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Buildings are among the largest contributors to energy use and carbon emissions. To fix them we first need to know which buildings are wasting energy. Not which use the most, but which use more than they should, given what they are and where they are. That's what we built in MATLAB.</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Buildings are among the largest contributors to energy use and carbon emissions. To fix them we first need to know which buildings are wasting energy. Not which use the most, but which use more than they should, given what they are and where they are. That's what we built in MATLAB.</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 05 EUI vs HDD) "A building's heating energy follows an energy balance: Q ≈ UA·ΔT summed over the year. So we engineered degree-day and seasonal temperature features. In the raw data, median energy use is roughly 36–53 in milder climates and 68–82 in colder ones.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 02 state shift, results/decisions.csv) "Before modelling we looked hard at the data. Three findings drove our design: 1. State_6 is 67% of the training data and *0%* of the test data. So besides the normal score we report a 'test-like' score on non-State_6 buildings. 2. The wind and fog columns are 56% missing in train but 90% in test. That's a missingness shift a model would wrongly learn from, so we dropped them. 3. The same buildings appear in several years without an id. We reconstructed one (63,907 buildings), so a building's *past* energy use becomes a feature. It is computed only from earlier years, and a unit test proves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 06, fig. 09) "We validate the way the task works: train on years 1–5, predict year 6, never seen. Same model, a random split would have told us RMSE 37.9; the honest temporal split says 42.5. Then we climbed a ladder of 10 models, each answering one question: - linear regression 46.2, a single tree 40.9: interactions matter; - adding building history brought buildings with a track record down to RMSE 20; - blending raw- and log-scale boosted trees gave our best model: RMSE 37.6, 34% better than the naive baseline, R² 0.57. One MATLAB-specific lesson: MATLAB trees without surrogate splits stop rows that are missing a split variable. Our first run barely learned from buildings without a rating. Encoding missing values explicitly took us from 46.8 to 37.6.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 06, fig. 09) "We validate the way the task works: train on years 1–5, predict year 6, never seen. Same model, a random split would have told us RMSE 37.9; the honest temporal split says 42.5. Then we climbed a ladder of 10 models, each answering one question: - linear regression 46.2, a single tree 40.9: interactions matter; - adding building history brought buildings with a track record down to RMSE 20; - blending raw- and log-scale boosted trees gave our best model: RMSE 37.6, 34% better than the naive baseline, R² 0.57. One MATLAB-specific lesson: MATLAB trees without surrogate splits stop rows that are missing a split variable. Our first run barely learned from buildings without a rating. Encoding missing values explicitly took us from 46.8 to 37.6.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 06, fig. 09) "We validate the way the task works: train on years 1–5, predict year 6, never seen. Same model, a random split would have told us RMSE 37.9; the honest temporal split says 42.5. Then we climbed a ladder of 10 models, each answering one question: - linear regression 46.2, a single tree 40.9: interactions matter; - adding building history brought buildings with a track record down to RMSE 20; - blending raw- and log-scale boosted trees gave our best model: RMSE 37.6, 34% better than the naive baseline, R² 0.57. One MATLAB-specific lesson: MATLAB trees without surrogate splits stop rows that are missing a split variable. Our first run barely learned from buildings without a rating. Encoding missing values explicitly took us from 46.8 to 37.6.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 11, fig. 12) "Partial dependence shows clean responses: a higher ENERGY STAR score means lower energy use, and past use predicts future use. Honest caveat: once the model knows the state, the degree-day features add little, because weather is recorded per state and year. Then we turn predictions into action. A cold-start model predicts what a typical building of the same type, size, age and climate *should* use. Buildings far above that are retrofit candidates: 1,123 buildings, 5% of the stock, using 1.55×10¹⁰ kBtu a year more than expected, 5.3% of all energy used. Ranked by absolute excess energy, so an organisation knows where a retrofit pays off most.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 11, fig. 12) "Partial dependence shows clean responses: a higher ENERGY STAR score means lower energy use, and past use predicts future use. Honest caveat: once the model knows the state, the degree-day features add little, because weather is recorded per state and year. Then we turn predictions into action. A cold-start model predicts what a typical building of the same type, size, age and climate *should* use. Buildings far above that are retrofit candidates: 1,123 buildings, 5% of the stock, using 1.55×10¹⁰ kBtu a year more than expected, 5.3% of all energy used. Ranked by absolute excess energy, so an organisation knows where a retrofit pays off most.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runs with one command, `main`, from raw CSV to submission and figures. The code is modular functions with argument validation, unit tests in `matlab.unittest`, a validated submission file, and every number in our README is printed by MATLAB. Next steps: monthly meter data, occupancy, and optimising which retrofits to fund first.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731520" y="1828800"/>
            <a:ext cx="10698480" cy="1280160"/>
          </a:xfrm>
          <a:prstGeom prst="rect">
            <a:avLst/>
          </a:prstGeom>
          <a:noFill/>
        </p:spPr>
        <p:txBody>
          <a:bodyPr wrap="square">
            <a:spAutoFit/>
          </a:bodyPr>
          <a:lstStyle/>
          <a:p>
            <a:pPr algn="l">
              <a:spcAft>
                <a:spcPts val="2700"/>
              </a:spcAft>
            </a:pPr>
            <a:r>
              <a:rPr sz="5400" b="1">
                <a:solidFill>
                  <a:srgbClr val="F2F2F2"/>
                </a:solidFill>
                <a:latin typeface="Calibri"/>
              </a:rPr>
              <a:t>Which buildings waste energy?</a:t>
            </a:r>
          </a:p>
        </p:txBody>
      </p:sp>
      <p:sp>
        <p:nvSpPr>
          <p:cNvPr id="3" name="TextBox 2"/>
          <p:cNvSpPr txBox="1"/>
          <p:nvPr/>
        </p:nvSpPr>
        <p:spPr>
          <a:xfrm>
            <a:off x="731520" y="3017520"/>
            <a:ext cx="10698480" cy="914400"/>
          </a:xfrm>
          <a:prstGeom prst="rect">
            <a:avLst/>
          </a:prstGeom>
          <a:noFill/>
        </p:spPr>
        <p:txBody>
          <a:bodyPr wrap="square">
            <a:spAutoFit/>
          </a:bodyPr>
          <a:lstStyle/>
          <a:p>
            <a:pPr algn="l">
              <a:spcAft>
                <a:spcPts val="1200"/>
              </a:spcAft>
            </a:pPr>
            <a:r>
              <a:rPr sz="2400" b="0">
                <a:solidFill>
                  <a:srgbClr val="A8A8A8"/>
                </a:solidFill>
                <a:latin typeface="Calibri"/>
              </a:rPr>
              <a:t>Predicting building energy use with MATLAB, and turning predictions into a retrofit shortlist</a:t>
            </a:r>
          </a:p>
        </p:txBody>
      </p:sp>
      <p:sp>
        <p:nvSpPr>
          <p:cNvPr id="4" name="TextBox 3"/>
          <p:cNvSpPr txBox="1"/>
          <p:nvPr/>
        </p:nvSpPr>
        <p:spPr>
          <a:xfrm>
            <a:off x="731520" y="5120640"/>
            <a:ext cx="10698480" cy="1097280"/>
          </a:xfrm>
          <a:prstGeom prst="rect">
            <a:avLst/>
          </a:prstGeom>
          <a:noFill/>
        </p:spPr>
        <p:txBody>
          <a:bodyPr wrap="square">
            <a:spAutoFit/>
          </a:bodyPr>
          <a:lstStyle/>
          <a:p>
            <a:pPr algn="l">
              <a:spcAft>
                <a:spcPts val="800"/>
              </a:spcAft>
            </a:pPr>
            <a:r>
              <a:rPr sz="1600" b="1">
                <a:solidFill>
                  <a:srgbClr val="E07B39"/>
                </a:solidFill>
                <a:latin typeface="Calibri"/>
              </a:rPr>
              <a:t>NTU Learn to Hack: MATLAB Edition 2026  ·  Predicting Building Energy Consumption</a:t>
            </a:r>
          </a:p>
          <a:p>
            <a:pPr algn="l">
              <a:spcAft>
                <a:spcPts val="800"/>
              </a:spcAft>
            </a:pPr>
            <a:r>
              <a:rPr sz="1600" b="0">
                <a:solidFill>
                  <a:srgbClr val="A8A8A8"/>
                </a:solidFill>
                <a:latin typeface="Calibri"/>
              </a:rPr>
              <a:t>github.com/JoshiiWahWah/ntu-matlab-hackathon-2026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lgn="l">
              <a:spcAft>
                <a:spcPts val="650"/>
              </a:spcAft>
            </a:pPr>
            <a:r>
              <a:rPr sz="1300" b="1">
                <a:solidFill>
                  <a:srgbClr val="E07B39"/>
                </a:solidFill>
                <a:latin typeface="Calibri"/>
              </a:rPr>
              <a:t>THE PROBLEM</a:t>
            </a:r>
          </a:p>
        </p:txBody>
      </p:sp>
      <p:sp>
        <p:nvSpPr>
          <p:cNvPr id="3" name="TextBox 2"/>
          <p:cNvSpPr txBox="1"/>
          <p:nvPr/>
        </p:nvSpPr>
        <p:spPr>
          <a:xfrm>
            <a:off x="548640" y="640080"/>
            <a:ext cx="11155680" cy="822960"/>
          </a:xfrm>
          <a:prstGeom prst="rect">
            <a:avLst/>
          </a:prstGeom>
          <a:noFill/>
        </p:spPr>
        <p:txBody>
          <a:bodyPr wrap="square">
            <a:spAutoFit/>
          </a:bodyPr>
          <a:lstStyle/>
          <a:p>
            <a:pPr algn="l">
              <a:spcAft>
                <a:spcPts val="1600"/>
              </a:spcAft>
            </a:pPr>
            <a:r>
              <a:rPr sz="3200" b="1">
                <a:solidFill>
                  <a:srgbClr val="F2F2F2"/>
                </a:solidFill>
                <a:latin typeface="Calibri"/>
              </a:rPr>
              <a:t>Not which buildings use the most, but which use more than they should</a:t>
            </a:r>
          </a:p>
        </p:txBody>
      </p:sp>
      <p:sp>
        <p:nvSpPr>
          <p:cNvPr id="4" name="TextBox 3"/>
          <p:cNvSpPr txBox="1"/>
          <p:nvPr/>
        </p:nvSpPr>
        <p:spPr>
          <a:xfrm>
            <a:off x="731520" y="2103120"/>
            <a:ext cx="10515600" cy="4114800"/>
          </a:xfrm>
          <a:prstGeom prst="rect">
            <a:avLst/>
          </a:prstGeom>
          <a:noFill/>
        </p:spPr>
        <p:txBody>
          <a:bodyPr wrap="square">
            <a:spAutoFit/>
          </a:bodyPr>
          <a:lstStyle/>
          <a:p>
            <a:pPr algn="l">
              <a:spcAft>
                <a:spcPts val="1300"/>
              </a:spcAft>
            </a:pPr>
            <a:r>
              <a:rPr sz="2600" b="0">
                <a:solidFill>
                  <a:srgbClr val="F2F2F2"/>
                </a:solidFill>
                <a:latin typeface="Calibri"/>
              </a:rPr>
              <a:t>Buildings are major contributors to global energy use and carbon emissions.</a:t>
            </a:r>
          </a:p>
          <a:p>
            <a:pPr algn="l">
              <a:spcAft>
                <a:spcPts val="1300"/>
              </a:spcAft>
            </a:pPr>
            <a:r>
              <a:rPr sz="2600" b="0">
                <a:solidFill>
                  <a:srgbClr val="F2F2F2"/>
                </a:solidFill>
                <a:latin typeface="Calibri"/>
              </a:rPr>
              <a:t>Retrofits pay off most where a building uses far more than its type, size, age and climate explain.</a:t>
            </a:r>
          </a:p>
          <a:p>
            <a:pPr algn="l">
              <a:spcAft>
                <a:spcPts val="1300"/>
              </a:spcAft>
            </a:pPr>
            <a:r>
              <a:rPr sz="2600" b="0">
                <a:solidFill>
                  <a:srgbClr val="F2F2F2"/>
                </a:solidFill>
                <a:latin typeface="Calibri"/>
              </a:rPr>
              <a:t>We predict annual site Energy Use Intensity (kBtu/ft²/yr) for 75,757 building-years (WiDS 2022), entirely in MATLAB.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lgn="l">
              <a:spcAft>
                <a:spcPts val="650"/>
              </a:spcAft>
            </a:pPr>
            <a:r>
              <a:rPr sz="1300" b="1">
                <a:solidFill>
                  <a:srgbClr val="E07B39"/>
                </a:solidFill>
                <a:latin typeface="Calibri"/>
              </a:rPr>
              <a:t>PHYSICS FRAMING</a:t>
            </a:r>
          </a:p>
        </p:txBody>
      </p:sp>
      <p:sp>
        <p:nvSpPr>
          <p:cNvPr id="3" name="TextBox 2"/>
          <p:cNvSpPr txBox="1"/>
          <p:nvPr/>
        </p:nvSpPr>
        <p:spPr>
          <a:xfrm>
            <a:off x="548640" y="640080"/>
            <a:ext cx="11155680" cy="822960"/>
          </a:xfrm>
          <a:prstGeom prst="rect">
            <a:avLst/>
          </a:prstGeom>
          <a:noFill/>
        </p:spPr>
        <p:txBody>
          <a:bodyPr wrap="square">
            <a:spAutoFit/>
          </a:bodyPr>
          <a:lstStyle/>
          <a:p>
            <a:pPr algn="l">
              <a:spcAft>
                <a:spcPts val="1600"/>
              </a:spcAft>
            </a:pPr>
            <a:r>
              <a:rPr sz="3200" b="1">
                <a:solidFill>
                  <a:srgbClr val="F2F2F2"/>
                </a:solidFill>
                <a:latin typeface="Calibri"/>
              </a:rPr>
              <a:t>Energy balance: Q ≈ UA · ΔT summed over the year</a:t>
            </a:r>
          </a:p>
        </p:txBody>
      </p:sp>
      <p:sp>
        <p:nvSpPr>
          <p:cNvPr id="4" name="TextBox 3"/>
          <p:cNvSpPr txBox="1"/>
          <p:nvPr/>
        </p:nvSpPr>
        <p:spPr>
          <a:xfrm>
            <a:off x="548640" y="1828800"/>
            <a:ext cx="4206240" cy="4389120"/>
          </a:xfrm>
          <a:prstGeom prst="rect">
            <a:avLst/>
          </a:prstGeom>
          <a:noFill/>
        </p:spPr>
        <p:txBody>
          <a:bodyPr wrap="square">
            <a:spAutoFit/>
          </a:bodyPr>
          <a:lstStyle/>
          <a:p>
            <a:pPr algn="l">
              <a:spcAft>
                <a:spcPts val="1000"/>
              </a:spcAft>
            </a:pPr>
            <a:r>
              <a:rPr sz="2000" b="0">
                <a:solidFill>
                  <a:srgbClr val="F2F2F2"/>
                </a:solidFill>
                <a:latin typeface="Calibri"/>
              </a:rPr>
              <a:t>Heating demand scales with heating degree days, cooling with cooling degree days.</a:t>
            </a:r>
          </a:p>
          <a:p>
            <a:pPr algn="l">
              <a:spcAft>
                <a:spcPts val="900"/>
              </a:spcAft>
            </a:pPr>
            <a:r>
              <a:rPr sz="1800" b="1">
                <a:solidFill>
                  <a:srgbClr val="E07B39"/>
                </a:solidFill>
                <a:latin typeface="Calibri"/>
              </a:rPr>
              <a:t>Features we engineered:</a:t>
            </a:r>
          </a:p>
          <a:p>
            <a:pPr algn="l">
              <a:spcAft>
                <a:spcPts val="900"/>
              </a:spcAft>
            </a:pPr>
            <a:r>
              <a:rPr sz="1800" b="0">
                <a:solidFill>
                  <a:srgbClr val="F2F2F2"/>
                </a:solidFill>
                <a:latin typeface="Calibri"/>
              </a:rPr>
              <a:t>winter &amp; summer mean temperature · annual temperature range · total degree days · cooling share · log floor area · building age</a:t>
            </a:r>
          </a:p>
          <a:p>
            <a:pPr algn="l">
              <a:spcAft>
                <a:spcPts val="900"/>
              </a:spcAft>
            </a:pPr>
            <a:r>
              <a:rPr sz="1800" b="0">
                <a:solidFill>
                  <a:srgbClr val="A8A8A8"/>
                </a:solidFill>
                <a:latin typeface="Calibri"/>
              </a:rPr>
              <a:t>Raw data: median EUI ≈ 36–53 in milder climates vs ≈ 68–82 in colder ones.</a:t>
            </a:r>
          </a:p>
        </p:txBody>
      </p:sp>
      <p:pic>
        <p:nvPicPr>
          <p:cNvPr id="5" name="Picture 4" descr="05_eui_vs_hdd.png"/>
          <p:cNvPicPr>
            <a:picLocks noChangeAspect="1"/>
          </p:cNvPicPr>
          <p:nvPr/>
        </p:nvPicPr>
        <p:blipFill>
          <a:blip r:embed="rId3"/>
          <a:stretch>
            <a:fillRect/>
          </a:stretch>
        </p:blipFill>
        <p:spPr>
          <a:xfrm>
            <a:off x="4937760" y="1733973"/>
            <a:ext cx="6766560" cy="476165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lgn="l">
              <a:spcAft>
                <a:spcPts val="650"/>
              </a:spcAft>
            </a:pPr>
            <a:r>
              <a:rPr sz="1300" b="1">
                <a:solidFill>
                  <a:srgbClr val="E07B39"/>
                </a:solidFill>
                <a:latin typeface="Calibri"/>
              </a:rPr>
              <a:t>DATA MASTERY</a:t>
            </a:r>
          </a:p>
        </p:txBody>
      </p:sp>
      <p:sp>
        <p:nvSpPr>
          <p:cNvPr id="3" name="TextBox 2"/>
          <p:cNvSpPr txBox="1"/>
          <p:nvPr/>
        </p:nvSpPr>
        <p:spPr>
          <a:xfrm>
            <a:off x="548640" y="640080"/>
            <a:ext cx="11155680" cy="822960"/>
          </a:xfrm>
          <a:prstGeom prst="rect">
            <a:avLst/>
          </a:prstGeom>
          <a:noFill/>
        </p:spPr>
        <p:txBody>
          <a:bodyPr wrap="square">
            <a:spAutoFit/>
          </a:bodyPr>
          <a:lstStyle/>
          <a:p>
            <a:pPr algn="l">
              <a:spcAft>
                <a:spcPts val="1600"/>
              </a:spcAft>
            </a:pPr>
            <a:r>
              <a:rPr sz="3200" b="1">
                <a:solidFill>
                  <a:srgbClr val="F2F2F2"/>
                </a:solidFill>
                <a:latin typeface="Calibri"/>
              </a:rPr>
              <a:t>Three findings that shaped the whole design</a:t>
            </a:r>
          </a:p>
        </p:txBody>
      </p:sp>
      <p:sp>
        <p:nvSpPr>
          <p:cNvPr id="4" name="TextBox 3"/>
          <p:cNvSpPr txBox="1"/>
          <p:nvPr/>
        </p:nvSpPr>
        <p:spPr>
          <a:xfrm>
            <a:off x="548640" y="1737360"/>
            <a:ext cx="4572000" cy="4846320"/>
          </a:xfrm>
          <a:prstGeom prst="rect">
            <a:avLst/>
          </a:prstGeom>
          <a:noFill/>
        </p:spPr>
        <p:txBody>
          <a:bodyPr wrap="square">
            <a:spAutoFit/>
          </a:bodyPr>
          <a:lstStyle/>
          <a:p>
            <a:pPr algn="l">
              <a:spcAft>
                <a:spcPts val="1000"/>
              </a:spcAft>
            </a:pPr>
            <a:r>
              <a:rPr sz="2000" b="1">
                <a:solidFill>
                  <a:srgbClr val="E07B39"/>
                </a:solidFill>
                <a:latin typeface="Calibri"/>
              </a:rPr>
              <a:t>1  Distribution shift</a:t>
            </a:r>
          </a:p>
          <a:p>
            <a:pPr algn="l">
              <a:spcAft>
                <a:spcPts val="900"/>
              </a:spcAft>
            </a:pPr>
            <a:r>
              <a:rPr sz="1800" b="0">
                <a:solidFill>
                  <a:srgbClr val="F2F2F2"/>
                </a:solidFill>
                <a:latin typeface="Calibri"/>
              </a:rPr>
              <a:t>State_6 is 67.1% of train but 0% of test → we also report a test-like score.</a:t>
            </a:r>
          </a:p>
          <a:p>
            <a:pPr algn="l">
              <a:spcAft>
                <a:spcPts val="1000"/>
              </a:spcAft>
            </a:pPr>
            <a:r>
              <a:rPr sz="2000" b="1">
                <a:solidFill>
                  <a:srgbClr val="E07B39"/>
                </a:solidFill>
                <a:latin typeface="Calibri"/>
              </a:rPr>
              <a:t>2  Missingness shift</a:t>
            </a:r>
          </a:p>
          <a:p>
            <a:pPr algn="l">
              <a:spcAft>
                <a:spcPts val="900"/>
              </a:spcAft>
            </a:pPr>
            <a:r>
              <a:rPr sz="1800" b="0">
                <a:solidFill>
                  <a:srgbClr val="F2F2F2"/>
                </a:solidFill>
                <a:latin typeface="Calibri"/>
              </a:rPr>
              <a:t>Wind/fog 56.0% missing in train vs 89.8% in test → dropped.</a:t>
            </a:r>
          </a:p>
          <a:p>
            <a:pPr algn="l">
              <a:spcAft>
                <a:spcPts val="1000"/>
              </a:spcAft>
            </a:pPr>
            <a:r>
              <a:rPr sz="2000" b="1">
                <a:solidFill>
                  <a:srgbClr val="E07B39"/>
                </a:solidFill>
                <a:latin typeface="Calibri"/>
              </a:rPr>
              <a:t>3  Hidden building identity</a:t>
            </a:r>
          </a:p>
          <a:p>
            <a:pPr algn="l">
              <a:spcAft>
                <a:spcPts val="900"/>
              </a:spcAft>
            </a:pPr>
            <a:r>
              <a:rPr sz="1800" b="0">
                <a:solidFill>
                  <a:srgbClr val="F2F2F2"/>
                </a:solidFill>
                <a:latin typeface="Calibri"/>
              </a:rPr>
              <a:t>Reconstructed 63,907 buildings → past energy use as a feature, from earlier years only (unit-tested).</a:t>
            </a:r>
          </a:p>
        </p:txBody>
      </p:sp>
      <p:pic>
        <p:nvPicPr>
          <p:cNvPr id="5" name="Picture 4" descr="02_state_shift.png"/>
          <p:cNvPicPr>
            <a:picLocks noChangeAspect="1"/>
          </p:cNvPicPr>
          <p:nvPr/>
        </p:nvPicPr>
        <p:blipFill>
          <a:blip r:embed="rId3"/>
          <a:stretch>
            <a:fillRect/>
          </a:stretch>
        </p:blipFill>
        <p:spPr>
          <a:xfrm>
            <a:off x="5303520" y="2396081"/>
            <a:ext cx="6492240" cy="3437437"/>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lgn="l">
              <a:spcAft>
                <a:spcPts val="650"/>
              </a:spcAft>
            </a:pPr>
            <a:r>
              <a:rPr sz="1300" b="1">
                <a:solidFill>
                  <a:srgbClr val="E07B39"/>
                </a:solidFill>
                <a:latin typeface="Calibri"/>
              </a:rPr>
              <a:t>HONEST VALIDATION</a:t>
            </a:r>
          </a:p>
        </p:txBody>
      </p:sp>
      <p:sp>
        <p:nvSpPr>
          <p:cNvPr id="3" name="TextBox 2"/>
          <p:cNvSpPr txBox="1"/>
          <p:nvPr/>
        </p:nvSpPr>
        <p:spPr>
          <a:xfrm>
            <a:off x="548640" y="640080"/>
            <a:ext cx="11155680" cy="822960"/>
          </a:xfrm>
          <a:prstGeom prst="rect">
            <a:avLst/>
          </a:prstGeom>
          <a:noFill/>
        </p:spPr>
        <p:txBody>
          <a:bodyPr wrap="square">
            <a:spAutoFit/>
          </a:bodyPr>
          <a:lstStyle/>
          <a:p>
            <a:pPr algn="l">
              <a:spcAft>
                <a:spcPts val="1600"/>
              </a:spcAft>
            </a:pPr>
            <a:r>
              <a:rPr sz="3200" b="1">
                <a:solidFill>
                  <a:srgbClr val="F2F2F2"/>
                </a:solidFill>
                <a:latin typeface="Calibri"/>
              </a:rPr>
              <a:t>Validate the way the task works: train on the past, predict an unseen year</a:t>
            </a:r>
          </a:p>
        </p:txBody>
      </p:sp>
      <p:sp>
        <p:nvSpPr>
          <p:cNvPr id="4" name="TextBox 3"/>
          <p:cNvSpPr txBox="1"/>
          <p:nvPr/>
        </p:nvSpPr>
        <p:spPr>
          <a:xfrm>
            <a:off x="548640" y="1828800"/>
            <a:ext cx="4389120" cy="4389120"/>
          </a:xfrm>
          <a:prstGeom prst="rect">
            <a:avLst/>
          </a:prstGeom>
          <a:noFill/>
        </p:spPr>
        <p:txBody>
          <a:bodyPr wrap="square">
            <a:spAutoFit/>
          </a:bodyPr>
          <a:lstStyle/>
          <a:p>
            <a:pPr algn="l">
              <a:spcAft>
                <a:spcPts val="1100"/>
              </a:spcAft>
            </a:pPr>
            <a:r>
              <a:rPr sz="2200" b="1">
                <a:solidFill>
                  <a:srgbClr val="F2F2F2"/>
                </a:solidFill>
                <a:latin typeface="Calibri"/>
              </a:rPr>
              <a:t>Train: years 1–5</a:t>
            </a:r>
          </a:p>
          <a:p>
            <a:pPr algn="l">
              <a:spcAft>
                <a:spcPts val="1100"/>
              </a:spcAft>
            </a:pPr>
            <a:r>
              <a:rPr sz="2200" b="1">
                <a:solidFill>
                  <a:srgbClr val="F2F2F2"/>
                </a:solidFill>
                <a:latin typeface="Calibri"/>
              </a:rPr>
              <a:t>Validate: year 6 (test is year 7)</a:t>
            </a:r>
          </a:p>
          <a:p>
            <a:pPr algn="l">
              <a:spcAft>
                <a:spcPts val="900"/>
              </a:spcAft>
            </a:pPr>
            <a:r>
              <a:rPr sz="1800" b="0">
                <a:solidFill>
                  <a:srgbClr val="A8A8A8"/>
                </a:solidFill>
                <a:latin typeface="Calibri"/>
              </a:rPr>
              <a:t>Same model, same features:</a:t>
            </a:r>
          </a:p>
          <a:p>
            <a:pPr algn="l">
              <a:spcAft>
                <a:spcPts val="1300"/>
              </a:spcAft>
            </a:pPr>
            <a:r>
              <a:rPr sz="2600" b="1">
                <a:solidFill>
                  <a:srgbClr val="4A9BE8"/>
                </a:solidFill>
                <a:latin typeface="Calibri"/>
              </a:rPr>
              <a:t>Random split   37.9</a:t>
            </a:r>
          </a:p>
          <a:p>
            <a:pPr algn="l">
              <a:spcAft>
                <a:spcPts val="1300"/>
              </a:spcAft>
            </a:pPr>
            <a:r>
              <a:rPr sz="2600" b="1">
                <a:solidFill>
                  <a:srgbClr val="E07B39"/>
                </a:solidFill>
                <a:latin typeface="Calibri"/>
              </a:rPr>
              <a:t>Temporal split  42.5</a:t>
            </a:r>
          </a:p>
          <a:p>
            <a:pPr algn="l">
              <a:spcAft>
                <a:spcPts val="900"/>
              </a:spcAft>
            </a:pPr>
            <a:r>
              <a:rPr sz="1800" b="0">
                <a:solidFill>
                  <a:srgbClr val="F2F2F2"/>
                </a:solidFill>
                <a:latin typeface="Calibri"/>
              </a:rPr>
              <a:t>A random split flatters by ~12%: other years of the same building leak into training.</a:t>
            </a:r>
          </a:p>
        </p:txBody>
      </p:sp>
      <p:pic>
        <p:nvPicPr>
          <p:cNvPr id="5" name="Picture 4" descr="09_validation_schemes.png"/>
          <p:cNvPicPr>
            <a:picLocks noChangeAspect="1"/>
          </p:cNvPicPr>
          <p:nvPr/>
        </p:nvPicPr>
        <p:blipFill>
          <a:blip r:embed="rId3"/>
          <a:stretch>
            <a:fillRect/>
          </a:stretch>
        </p:blipFill>
        <p:spPr>
          <a:xfrm>
            <a:off x="5120640" y="1991419"/>
            <a:ext cx="6583680" cy="433820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lgn="l">
              <a:spcAft>
                <a:spcPts val="650"/>
              </a:spcAft>
            </a:pPr>
            <a:r>
              <a:rPr sz="1300" b="1">
                <a:solidFill>
                  <a:srgbClr val="E07B39"/>
                </a:solidFill>
                <a:latin typeface="Calibri"/>
              </a:rPr>
              <a:t>USE OF MACHINE LEARNING</a:t>
            </a:r>
          </a:p>
        </p:txBody>
      </p:sp>
      <p:sp>
        <p:nvSpPr>
          <p:cNvPr id="3" name="TextBox 2"/>
          <p:cNvSpPr txBox="1"/>
          <p:nvPr/>
        </p:nvSpPr>
        <p:spPr>
          <a:xfrm>
            <a:off x="548640" y="640080"/>
            <a:ext cx="11155680" cy="822960"/>
          </a:xfrm>
          <a:prstGeom prst="rect">
            <a:avLst/>
          </a:prstGeom>
          <a:noFill/>
        </p:spPr>
        <p:txBody>
          <a:bodyPr wrap="square">
            <a:spAutoFit/>
          </a:bodyPr>
          <a:lstStyle/>
          <a:p>
            <a:pPr algn="l">
              <a:spcAft>
                <a:spcPts val="1600"/>
              </a:spcAft>
            </a:pPr>
            <a:r>
              <a:rPr sz="3200" b="1">
                <a:solidFill>
                  <a:srgbClr val="F2F2F2"/>
                </a:solidFill>
                <a:latin typeface="Calibri"/>
              </a:rPr>
              <a:t>10-model ladder: each rung answers one question</a:t>
            </a:r>
          </a:p>
        </p:txBody>
      </p:sp>
      <p:pic>
        <p:nvPicPr>
          <p:cNvPr id="4" name="Picture 3" descr="06_model_ladder.png"/>
          <p:cNvPicPr>
            <a:picLocks noChangeAspect="1"/>
          </p:cNvPicPr>
          <p:nvPr/>
        </p:nvPicPr>
        <p:blipFill>
          <a:blip r:embed="rId3"/>
          <a:stretch>
            <a:fillRect/>
          </a:stretch>
        </p:blipFill>
        <p:spPr>
          <a:xfrm>
            <a:off x="365760" y="1679463"/>
            <a:ext cx="7589520" cy="3864833"/>
          </a:xfrm>
          <a:prstGeom prst="rect">
            <a:avLst/>
          </a:prstGeom>
        </p:spPr>
      </p:pic>
      <p:pic>
        <p:nvPicPr>
          <p:cNvPr id="5" name="Picture 4" descr="08_history_vs_coldstart.png"/>
          <p:cNvPicPr>
            <a:picLocks noChangeAspect="1"/>
          </p:cNvPicPr>
          <p:nvPr/>
        </p:nvPicPr>
        <p:blipFill>
          <a:blip r:embed="rId4"/>
          <a:stretch>
            <a:fillRect/>
          </a:stretch>
        </p:blipFill>
        <p:spPr>
          <a:xfrm>
            <a:off x="8046720" y="1819277"/>
            <a:ext cx="3840480" cy="2579365"/>
          </a:xfrm>
          <a:prstGeom prst="rect">
            <a:avLst/>
          </a:prstGeom>
        </p:spPr>
      </p:pic>
      <p:sp>
        <p:nvSpPr>
          <p:cNvPr id="6" name="TextBox 5"/>
          <p:cNvSpPr txBox="1"/>
          <p:nvPr/>
        </p:nvSpPr>
        <p:spPr>
          <a:xfrm>
            <a:off x="8046720" y="4754880"/>
            <a:ext cx="3931920" cy="2011680"/>
          </a:xfrm>
          <a:prstGeom prst="rect">
            <a:avLst/>
          </a:prstGeom>
          <a:noFill/>
        </p:spPr>
        <p:txBody>
          <a:bodyPr wrap="square">
            <a:spAutoFit/>
          </a:bodyPr>
          <a:lstStyle/>
          <a:p>
            <a:pPr algn="l">
              <a:spcAft>
                <a:spcPts val="800"/>
              </a:spcAft>
            </a:pPr>
            <a:r>
              <a:rPr sz="1600" b="1">
                <a:solidFill>
                  <a:srgbClr val="F2F2F2"/>
                </a:solidFill>
                <a:latin typeface="Calibri"/>
              </a:rPr>
              <a:t>Best: blend of raw + log boosted trees</a:t>
            </a:r>
          </a:p>
          <a:p>
            <a:pPr algn="l">
              <a:spcAft>
                <a:spcPts val="1500"/>
              </a:spcAft>
            </a:pPr>
            <a:r>
              <a:rPr sz="3000" b="1">
                <a:solidFill>
                  <a:srgbClr val="E07B39"/>
                </a:solidFill>
                <a:latin typeface="Calibri"/>
              </a:rPr>
              <a:t>RMSE 37.6</a:t>
            </a:r>
          </a:p>
          <a:p>
            <a:pPr algn="l">
              <a:spcAft>
                <a:spcPts val="800"/>
              </a:spcAft>
            </a:pPr>
            <a:r>
              <a:rPr sz="1600" b="0">
                <a:solidFill>
                  <a:srgbClr val="F2F2F2"/>
                </a:solidFill>
                <a:latin typeface="Calibri"/>
              </a:rPr>
              <a:t>−34% vs naive (57.1) · R² 0.57</a:t>
            </a:r>
          </a:p>
          <a:p>
            <a:pPr algn="l">
              <a:spcAft>
                <a:spcPts val="750"/>
              </a:spcAft>
            </a:pPr>
            <a:r>
              <a:rPr sz="1500" b="0">
                <a:solidFill>
                  <a:srgbClr val="A8A8A8"/>
                </a:solidFill>
                <a:latin typeface="Calibri"/>
              </a:rPr>
              <a:t>Buildings with history: RMSE 20.3</a:t>
            </a:r>
          </a:p>
        </p:txBody>
      </p:sp>
      <p:sp>
        <p:nvSpPr>
          <p:cNvPr id="7" name="TextBox 6"/>
          <p:cNvSpPr txBox="1"/>
          <p:nvPr/>
        </p:nvSpPr>
        <p:spPr>
          <a:xfrm>
            <a:off x="548640" y="5806440"/>
            <a:ext cx="7315200" cy="914400"/>
          </a:xfrm>
          <a:prstGeom prst="rect">
            <a:avLst/>
          </a:prstGeom>
          <a:noFill/>
        </p:spPr>
        <p:txBody>
          <a:bodyPr wrap="square">
            <a:spAutoFit/>
          </a:bodyPr>
          <a:lstStyle/>
          <a:p>
            <a:pPr algn="l">
              <a:spcAft>
                <a:spcPts val="750"/>
              </a:spcAft>
            </a:pPr>
            <a:r>
              <a:rPr sz="1500" b="0">
                <a:solidFill>
                  <a:srgbClr val="A8A8A8"/>
                </a:solidFill>
                <a:latin typeface="Calibri"/>
              </a:rPr>
              <a:t>Linear 46.2 → tree 40.9: interactions matter.  + ENERGY STAR rating, + building history, raw/log blend.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lgn="l">
              <a:spcAft>
                <a:spcPts val="650"/>
              </a:spcAft>
            </a:pPr>
            <a:r>
              <a:rPr sz="1300" b="1">
                <a:solidFill>
                  <a:srgbClr val="E07B39"/>
                </a:solidFill>
                <a:latin typeface="Calibri"/>
              </a:rPr>
              <a:t>WHAT WE LEARNED THE HARD WAY</a:t>
            </a:r>
          </a:p>
        </p:txBody>
      </p:sp>
      <p:sp>
        <p:nvSpPr>
          <p:cNvPr id="3" name="TextBox 2"/>
          <p:cNvSpPr txBox="1"/>
          <p:nvPr/>
        </p:nvSpPr>
        <p:spPr>
          <a:xfrm>
            <a:off x="548640" y="640080"/>
            <a:ext cx="11155680" cy="822960"/>
          </a:xfrm>
          <a:prstGeom prst="rect">
            <a:avLst/>
          </a:prstGeom>
          <a:noFill/>
        </p:spPr>
        <p:txBody>
          <a:bodyPr wrap="square">
            <a:spAutoFit/>
          </a:bodyPr>
          <a:lstStyle/>
          <a:p>
            <a:pPr algn="l">
              <a:spcAft>
                <a:spcPts val="1600"/>
              </a:spcAft>
            </a:pPr>
            <a:r>
              <a:rPr sz="3200" b="1">
                <a:solidFill>
                  <a:srgbClr val="F2F2F2"/>
                </a:solidFill>
                <a:latin typeface="Calibri"/>
              </a:rPr>
              <a:t>How MATLAB trees treat missing values</a:t>
            </a:r>
          </a:p>
        </p:txBody>
      </p:sp>
      <p:sp>
        <p:nvSpPr>
          <p:cNvPr id="4" name="TextBox 3"/>
          <p:cNvSpPr txBox="1"/>
          <p:nvPr/>
        </p:nvSpPr>
        <p:spPr>
          <a:xfrm>
            <a:off x="731520" y="1828800"/>
            <a:ext cx="5669280" cy="4389120"/>
          </a:xfrm>
          <a:prstGeom prst="rect">
            <a:avLst/>
          </a:prstGeom>
          <a:noFill/>
        </p:spPr>
        <p:txBody>
          <a:bodyPr wrap="square">
            <a:spAutoFit/>
          </a:bodyPr>
          <a:lstStyle/>
          <a:p>
            <a:pPr algn="l">
              <a:spcAft>
                <a:spcPts val="1100"/>
              </a:spcAft>
            </a:pPr>
            <a:r>
              <a:rPr sz="2200" b="0">
                <a:solidFill>
                  <a:srgbClr val="F2F2F2"/>
                </a:solidFill>
                <a:latin typeface="Calibri"/>
              </a:rPr>
              <a:t>Without surrogate splits, a row missing the split variable stops at that node.</a:t>
            </a:r>
          </a:p>
          <a:p>
            <a:pPr algn="l">
              <a:spcAft>
                <a:spcPts val="1100"/>
              </a:spcAft>
            </a:pPr>
            <a:r>
              <a:rPr sz="2200" b="0">
                <a:solidFill>
                  <a:srgbClr val="F2F2F2"/>
                </a:solidFill>
                <a:latin typeface="Calibri"/>
              </a:rPr>
              <a:t>ENERGY STAR rating (35% missing) and history (~60% missing) were our strongest features, so those buildings were barely learned.</a:t>
            </a:r>
          </a:p>
          <a:p>
            <a:pPr algn="l">
              <a:spcAft>
                <a:spcPts val="1100"/>
              </a:spcAft>
            </a:pPr>
            <a:r>
              <a:rPr sz="2200" b="1">
                <a:solidFill>
                  <a:srgbClr val="E07B39"/>
                </a:solidFill>
                <a:latin typeface="Calibri"/>
              </a:rPr>
              <a:t>Fix: encode missing as an out-of-range sentinel (src/treeInputs.m) and keep explicit missing flags.</a:t>
            </a:r>
          </a:p>
        </p:txBody>
      </p:sp>
      <p:sp>
        <p:nvSpPr>
          <p:cNvPr id="5" name="TextBox 4"/>
          <p:cNvSpPr txBox="1"/>
          <p:nvPr/>
        </p:nvSpPr>
        <p:spPr>
          <a:xfrm>
            <a:off x="6675120" y="2377440"/>
            <a:ext cx="5120640" cy="914400"/>
          </a:xfrm>
          <a:prstGeom prst="rect">
            <a:avLst/>
          </a:prstGeom>
          <a:noFill/>
        </p:spPr>
        <p:txBody>
          <a:bodyPr wrap="square">
            <a:spAutoFit/>
          </a:bodyPr>
          <a:lstStyle/>
          <a:p>
            <a:pPr algn="ctr">
              <a:spcAft>
                <a:spcPts val="1100"/>
              </a:spcAft>
            </a:pPr>
            <a:r>
              <a:rPr sz="2200" b="0">
                <a:solidFill>
                  <a:srgbClr val="A8A8A8"/>
                </a:solidFill>
                <a:latin typeface="Calibri"/>
              </a:rPr>
              <a:t>blend RMSE</a:t>
            </a:r>
          </a:p>
        </p:txBody>
      </p:sp>
      <p:sp>
        <p:nvSpPr>
          <p:cNvPr id="6" name="TextBox 5"/>
          <p:cNvSpPr txBox="1"/>
          <p:nvPr/>
        </p:nvSpPr>
        <p:spPr>
          <a:xfrm>
            <a:off x="6675120" y="2926080"/>
            <a:ext cx="5120640" cy="1463040"/>
          </a:xfrm>
          <a:prstGeom prst="rect">
            <a:avLst/>
          </a:prstGeom>
          <a:noFill/>
        </p:spPr>
        <p:txBody>
          <a:bodyPr wrap="square">
            <a:spAutoFit/>
          </a:bodyPr>
          <a:lstStyle/>
          <a:p>
            <a:pPr algn="ctr">
              <a:spcAft>
                <a:spcPts val="3000"/>
              </a:spcAft>
            </a:pPr>
            <a:r>
              <a:rPr sz="6000" b="1">
                <a:solidFill>
                  <a:srgbClr val="E07B39"/>
                </a:solidFill>
                <a:latin typeface="Calibri"/>
              </a:rPr>
              <a:t>46.8  →  37.6</a:t>
            </a:r>
          </a:p>
        </p:txBody>
      </p:sp>
      <p:sp>
        <p:nvSpPr>
          <p:cNvPr id="7" name="TextBox 6"/>
          <p:cNvSpPr txBox="1"/>
          <p:nvPr/>
        </p:nvSpPr>
        <p:spPr>
          <a:xfrm>
            <a:off x="6675120" y="4389120"/>
            <a:ext cx="5120640" cy="914400"/>
          </a:xfrm>
          <a:prstGeom prst="rect">
            <a:avLst/>
          </a:prstGeom>
          <a:noFill/>
        </p:spPr>
        <p:txBody>
          <a:bodyPr wrap="square">
            <a:spAutoFit/>
          </a:bodyPr>
          <a:lstStyle/>
          <a:p>
            <a:pPr algn="ctr">
              <a:spcAft>
                <a:spcPts val="900"/>
              </a:spcAft>
            </a:pPr>
            <a:r>
              <a:rPr sz="1800" b="0">
                <a:solidFill>
                  <a:srgbClr val="A8A8A8"/>
                </a:solidFill>
                <a:latin typeface="Calibri"/>
              </a:rPr>
              <a:t>first full run → after the fix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lgn="l">
              <a:spcAft>
                <a:spcPts val="650"/>
              </a:spcAft>
            </a:pPr>
            <a:r>
              <a:rPr sz="1300" b="1">
                <a:solidFill>
                  <a:srgbClr val="E07B39"/>
                </a:solidFill>
                <a:latin typeface="Calibri"/>
              </a:rPr>
              <a:t>INTERPRETABILITY</a:t>
            </a:r>
          </a:p>
        </p:txBody>
      </p:sp>
      <p:sp>
        <p:nvSpPr>
          <p:cNvPr id="3" name="TextBox 2"/>
          <p:cNvSpPr txBox="1"/>
          <p:nvPr/>
        </p:nvSpPr>
        <p:spPr>
          <a:xfrm>
            <a:off x="548640" y="640080"/>
            <a:ext cx="11155680" cy="822960"/>
          </a:xfrm>
          <a:prstGeom prst="rect">
            <a:avLst/>
          </a:prstGeom>
          <a:noFill/>
        </p:spPr>
        <p:txBody>
          <a:bodyPr wrap="square">
            <a:spAutoFit/>
          </a:bodyPr>
          <a:lstStyle/>
          <a:p>
            <a:pPr algn="l">
              <a:spcAft>
                <a:spcPts val="1600"/>
              </a:spcAft>
            </a:pPr>
            <a:r>
              <a:rPr sz="3200" b="1">
                <a:solidFill>
                  <a:srgbClr val="F2F2F2"/>
                </a:solidFill>
                <a:latin typeface="Calibri"/>
              </a:rPr>
              <a:t>What drives energy use</a:t>
            </a:r>
          </a:p>
        </p:txBody>
      </p:sp>
      <p:pic>
        <p:nvPicPr>
          <p:cNvPr id="4" name="Picture 3" descr="11_partial_dependence.png"/>
          <p:cNvPicPr>
            <a:picLocks noChangeAspect="1"/>
          </p:cNvPicPr>
          <p:nvPr/>
        </p:nvPicPr>
        <p:blipFill>
          <a:blip r:embed="rId3"/>
          <a:stretch>
            <a:fillRect/>
          </a:stretch>
        </p:blipFill>
        <p:spPr>
          <a:xfrm>
            <a:off x="365760" y="1605752"/>
            <a:ext cx="11430000" cy="3829376"/>
          </a:xfrm>
          <a:prstGeom prst="rect">
            <a:avLst/>
          </a:prstGeom>
        </p:spPr>
      </p:pic>
      <p:sp>
        <p:nvSpPr>
          <p:cNvPr id="5" name="TextBox 4"/>
          <p:cNvSpPr txBox="1"/>
          <p:nvPr/>
        </p:nvSpPr>
        <p:spPr>
          <a:xfrm>
            <a:off x="548640" y="5577840"/>
            <a:ext cx="11155680" cy="1188720"/>
          </a:xfrm>
          <a:prstGeom prst="rect">
            <a:avLst/>
          </a:prstGeom>
          <a:noFill/>
        </p:spPr>
        <p:txBody>
          <a:bodyPr wrap="square">
            <a:spAutoFit/>
          </a:bodyPr>
          <a:lstStyle/>
          <a:p>
            <a:pPr algn="l">
              <a:spcAft>
                <a:spcPts val="850"/>
              </a:spcAft>
            </a:pPr>
            <a:r>
              <a:rPr sz="1700" b="0">
                <a:solidFill>
                  <a:srgbClr val="F2F2F2"/>
                </a:solidFill>
                <a:latin typeface="Calibri"/>
              </a:rPr>
              <a:t>Higher ENERGY STAR score → lower EUI; past use predicts future use. Top drivers: facility type, ENERGY STAR rating, previous-year EUI, floor area.</a:t>
            </a:r>
          </a:p>
          <a:p>
            <a:pPr algn="l">
              <a:spcAft>
                <a:spcPts val="750"/>
              </a:spcAft>
            </a:pPr>
            <a:r>
              <a:rPr sz="1500" b="0">
                <a:solidFill>
                  <a:srgbClr val="A8A8A8"/>
                </a:solidFill>
                <a:latin typeface="Calibri"/>
              </a:rPr>
              <a:t>Honest caveat: weather is recorded per state and year, so once the state is known the degree-day features add little.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lgn="l">
              <a:spcAft>
                <a:spcPts val="650"/>
              </a:spcAft>
            </a:pPr>
            <a:r>
              <a:rPr sz="1300" b="1">
                <a:solidFill>
                  <a:srgbClr val="E07B39"/>
                </a:solidFill>
                <a:latin typeface="Calibri"/>
              </a:rPr>
              <a:t>IMPACT</a:t>
            </a:r>
          </a:p>
        </p:txBody>
      </p:sp>
      <p:sp>
        <p:nvSpPr>
          <p:cNvPr id="3" name="TextBox 2"/>
          <p:cNvSpPr txBox="1"/>
          <p:nvPr/>
        </p:nvSpPr>
        <p:spPr>
          <a:xfrm>
            <a:off x="548640" y="640080"/>
            <a:ext cx="11155680" cy="822960"/>
          </a:xfrm>
          <a:prstGeom prst="rect">
            <a:avLst/>
          </a:prstGeom>
          <a:noFill/>
        </p:spPr>
        <p:txBody>
          <a:bodyPr wrap="square">
            <a:spAutoFit/>
          </a:bodyPr>
          <a:lstStyle/>
          <a:p>
            <a:pPr algn="l">
              <a:spcAft>
                <a:spcPts val="1600"/>
              </a:spcAft>
            </a:pPr>
            <a:r>
              <a:rPr sz="3200" b="1">
                <a:solidFill>
                  <a:srgbClr val="F2F2F2"/>
                </a:solidFill>
                <a:latin typeface="Calibri"/>
              </a:rPr>
              <a:t>From prediction to action: the retrofit shortlist</a:t>
            </a:r>
          </a:p>
        </p:txBody>
      </p:sp>
      <p:sp>
        <p:nvSpPr>
          <p:cNvPr id="4" name="TextBox 3"/>
          <p:cNvSpPr txBox="1"/>
          <p:nvPr/>
        </p:nvSpPr>
        <p:spPr>
          <a:xfrm>
            <a:off x="548640" y="1737360"/>
            <a:ext cx="4389120" cy="4846320"/>
          </a:xfrm>
          <a:prstGeom prst="rect">
            <a:avLst/>
          </a:prstGeom>
          <a:noFill/>
        </p:spPr>
        <p:txBody>
          <a:bodyPr wrap="square">
            <a:spAutoFit/>
          </a:bodyPr>
          <a:lstStyle/>
          <a:p>
            <a:pPr algn="l">
              <a:spcAft>
                <a:spcPts val="900"/>
              </a:spcAft>
            </a:pPr>
            <a:r>
              <a:rPr sz="1800" b="0">
                <a:solidFill>
                  <a:srgbClr val="F2F2F2"/>
                </a:solidFill>
                <a:latin typeface="Calibri"/>
              </a:rPr>
              <a:t>A cold-start model predicts what a typical building of the same type, size, age and climate should use.</a:t>
            </a:r>
          </a:p>
          <a:p>
            <a:pPr algn="l">
              <a:spcAft>
                <a:spcPts val="900"/>
              </a:spcAft>
            </a:pPr>
            <a:r>
              <a:rPr sz="1800" b="0">
                <a:solidFill>
                  <a:srgbClr val="F2F2F2"/>
                </a:solidFill>
                <a:latin typeface="Calibri"/>
              </a:rPr>
              <a:t>Candidates: top 5% excess within each facility type, ranked by excess EUI × floor area.</a:t>
            </a:r>
          </a:p>
          <a:p>
            <a:pPr algn="l">
              <a:spcAft>
                <a:spcPts val="1500"/>
              </a:spcAft>
            </a:pPr>
            <a:r>
              <a:rPr sz="3000" b="1">
                <a:solidFill>
                  <a:srgbClr val="E07B39"/>
                </a:solidFill>
                <a:latin typeface="Calibri"/>
              </a:rPr>
              <a:t>1,123 buildings</a:t>
            </a:r>
          </a:p>
          <a:p>
            <a:pPr algn="l">
              <a:spcAft>
                <a:spcPts val="1000"/>
              </a:spcAft>
            </a:pPr>
            <a:r>
              <a:rPr sz="2000" b="1">
                <a:solidFill>
                  <a:srgbClr val="F2F2F2"/>
                </a:solidFill>
                <a:latin typeface="Calibri"/>
              </a:rPr>
              <a:t>1.55 × 10¹⁰ kBtu/yr above expected</a:t>
            </a:r>
          </a:p>
          <a:p>
            <a:pPr algn="l">
              <a:spcAft>
                <a:spcPts val="900"/>
              </a:spcAft>
            </a:pPr>
            <a:r>
              <a:rPr sz="1800" b="0">
                <a:solidFill>
                  <a:srgbClr val="A8A8A8"/>
                </a:solidFill>
                <a:latin typeface="Calibri"/>
              </a:rPr>
              <a:t>5.3% of all energy used, concentrated in ~5% of buildings</a:t>
            </a:r>
          </a:p>
        </p:txBody>
      </p:sp>
      <p:pic>
        <p:nvPicPr>
          <p:cNvPr id="5" name="Picture 4" descr="12_retrofit_shortlist.png"/>
          <p:cNvPicPr>
            <a:picLocks noChangeAspect="1"/>
          </p:cNvPicPr>
          <p:nvPr/>
        </p:nvPicPr>
        <p:blipFill>
          <a:blip r:embed="rId3"/>
          <a:stretch>
            <a:fillRect/>
          </a:stretch>
        </p:blipFill>
        <p:spPr>
          <a:xfrm>
            <a:off x="5029200" y="2123169"/>
            <a:ext cx="6858000" cy="398326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lgn="l">
              <a:spcAft>
                <a:spcPts val="650"/>
              </a:spcAft>
            </a:pPr>
            <a:r>
              <a:rPr sz="1300" b="1">
                <a:solidFill>
                  <a:srgbClr val="E07B39"/>
                </a:solidFill>
                <a:latin typeface="Calibri"/>
              </a:rPr>
              <a:t>ENGINEERING QUALITY</a:t>
            </a:r>
          </a:p>
        </p:txBody>
      </p:sp>
      <p:sp>
        <p:nvSpPr>
          <p:cNvPr id="3" name="TextBox 2"/>
          <p:cNvSpPr txBox="1"/>
          <p:nvPr/>
        </p:nvSpPr>
        <p:spPr>
          <a:xfrm>
            <a:off x="548640" y="640080"/>
            <a:ext cx="11155680" cy="822960"/>
          </a:xfrm>
          <a:prstGeom prst="rect">
            <a:avLst/>
          </a:prstGeom>
          <a:noFill/>
        </p:spPr>
        <p:txBody>
          <a:bodyPr wrap="square">
            <a:spAutoFit/>
          </a:bodyPr>
          <a:lstStyle/>
          <a:p>
            <a:pPr algn="l">
              <a:spcAft>
                <a:spcPts val="1600"/>
              </a:spcAft>
            </a:pPr>
            <a:r>
              <a:rPr sz="3200" b="1">
                <a:solidFill>
                  <a:srgbClr val="F2F2F2"/>
                </a:solidFill>
                <a:latin typeface="Calibri"/>
              </a:rPr>
              <a:t>One command, reproducible, tested</a:t>
            </a:r>
          </a:p>
        </p:txBody>
      </p:sp>
      <p:sp>
        <p:nvSpPr>
          <p:cNvPr id="4" name="TextBox 3"/>
          <p:cNvSpPr txBox="1"/>
          <p:nvPr/>
        </p:nvSpPr>
        <p:spPr>
          <a:xfrm>
            <a:off x="731520" y="1737360"/>
            <a:ext cx="5669280" cy="4572000"/>
          </a:xfrm>
          <a:prstGeom prst="rect">
            <a:avLst/>
          </a:prstGeom>
          <a:noFill/>
        </p:spPr>
        <p:txBody>
          <a:bodyPr wrap="square">
            <a:spAutoFit/>
          </a:bodyPr>
          <a:lstStyle/>
          <a:p>
            <a:pPr algn="l">
              <a:spcAft>
                <a:spcPts val="1500"/>
              </a:spcAft>
            </a:pPr>
            <a:r>
              <a:rPr sz="3000" b="1">
                <a:solidFill>
                  <a:srgbClr val="E07B39"/>
                </a:solidFill>
                <a:latin typeface="Calibri"/>
              </a:rPr>
              <a:t>&gt;&gt; main</a:t>
            </a:r>
          </a:p>
          <a:p>
            <a:pPr algn="l">
              <a:spcAft>
                <a:spcPts val="950"/>
              </a:spcAft>
            </a:pPr>
            <a:r>
              <a:rPr sz="1900" b="0">
                <a:solidFill>
                  <a:srgbClr val="F2F2F2"/>
                </a:solidFill>
                <a:latin typeface="Calibri"/>
              </a:rPr>
              <a:t>Raw CSV → cleaning → features → 10-model ladder → validated submission + 12 figures</a:t>
            </a:r>
          </a:p>
          <a:p>
            <a:pPr algn="l">
              <a:spcAft>
                <a:spcPts val="950"/>
              </a:spcAft>
            </a:pPr>
            <a:r>
              <a:rPr sz="1900" b="0">
                <a:solidFill>
                  <a:srgbClr val="F2F2F2"/>
                </a:solidFill>
                <a:latin typeface="Calibri"/>
              </a:rPr>
              <a:t>Modular functions in src/ with argument validation</a:t>
            </a:r>
          </a:p>
          <a:p>
            <a:pPr algn="l">
              <a:spcAft>
                <a:spcPts val="950"/>
              </a:spcAft>
            </a:pPr>
            <a:r>
              <a:rPr sz="1900" b="0">
                <a:solidFill>
                  <a:srgbClr val="F2F2F2"/>
                </a:solidFill>
                <a:latin typeface="Calibri"/>
              </a:rPr>
              <a:t>matlab.unittest tests, including proof that history features are causal</a:t>
            </a:r>
          </a:p>
          <a:p>
            <a:pPr algn="l">
              <a:spcAft>
                <a:spcPts val="950"/>
              </a:spcAft>
            </a:pPr>
            <a:r>
              <a:rPr sz="1900" b="0">
                <a:solidFill>
                  <a:srgbClr val="F2F2F2"/>
                </a:solidFill>
                <a:latin typeface="Calibri"/>
              </a:rPr>
              <a:t>Every number in the README is printed by MATLAB</a:t>
            </a:r>
          </a:p>
        </p:txBody>
      </p:sp>
      <p:sp>
        <p:nvSpPr>
          <p:cNvPr id="5" name="TextBox 4"/>
          <p:cNvSpPr txBox="1"/>
          <p:nvPr/>
        </p:nvSpPr>
        <p:spPr>
          <a:xfrm>
            <a:off x="6766560" y="1737360"/>
            <a:ext cx="4937760" cy="4572000"/>
          </a:xfrm>
          <a:prstGeom prst="rect">
            <a:avLst/>
          </a:prstGeom>
          <a:noFill/>
        </p:spPr>
        <p:txBody>
          <a:bodyPr wrap="square">
            <a:spAutoFit/>
          </a:bodyPr>
          <a:lstStyle/>
          <a:p>
            <a:pPr algn="l">
              <a:spcAft>
                <a:spcPts val="1100"/>
              </a:spcAft>
            </a:pPr>
            <a:r>
              <a:rPr sz="2200" b="1">
                <a:solidFill>
                  <a:srgbClr val="E07B39"/>
                </a:solidFill>
                <a:latin typeface="Calibri"/>
              </a:rPr>
              <a:t>Next steps</a:t>
            </a:r>
          </a:p>
          <a:p>
            <a:pPr algn="l">
              <a:spcAft>
                <a:spcPts val="950"/>
              </a:spcAft>
            </a:pPr>
            <a:r>
              <a:rPr sz="1900" b="0">
                <a:solidFill>
                  <a:srgbClr val="F2F2F2"/>
                </a:solidFill>
                <a:latin typeface="Calibri"/>
              </a:rPr>
              <a:t>Monthly meter data and occupancy</a:t>
            </a:r>
          </a:p>
          <a:p>
            <a:pPr algn="l">
              <a:spcAft>
                <a:spcPts val="950"/>
              </a:spcAft>
            </a:pPr>
            <a:r>
              <a:rPr sz="1900" b="0">
                <a:solidFill>
                  <a:srgbClr val="F2F2F2"/>
                </a:solidFill>
                <a:latin typeface="Calibri"/>
              </a:rPr>
              <a:t>Optimise which retrofits to fund under a budget</a:t>
            </a:r>
          </a:p>
          <a:p>
            <a:pPr algn="l">
              <a:spcAft>
                <a:spcPts val="950"/>
              </a:spcAft>
            </a:pPr>
            <a:r>
              <a:rPr sz="1900" b="0">
                <a:solidFill>
                  <a:srgbClr val="F2F2F2"/>
                </a:solidFill>
                <a:latin typeface="Calibri"/>
              </a:rPr>
              <a:t>Per-building uncertainty</a:t>
            </a:r>
          </a:p>
          <a:p>
            <a:pPr algn="l">
              <a:spcAft>
                <a:spcPts val="1500"/>
              </a:spcAft>
            </a:pPr>
            <a:r>
              <a:rPr sz="3000" b="1">
                <a:solidFill>
                  <a:srgbClr val="F2F2F2"/>
                </a:solidFill>
                <a:latin typeface="Calibri"/>
              </a:rPr>
              <a:t>Thank you</a:t>
            </a:r>
          </a:p>
          <a:p>
            <a:pPr algn="l">
              <a:spcAft>
                <a:spcPts val="750"/>
              </a:spcAft>
            </a:pPr>
            <a:r>
              <a:rPr sz="1500" b="0">
                <a:solidFill>
                  <a:srgbClr val="A8A8A8"/>
                </a:solidFill>
                <a:latin typeface="Calibri"/>
              </a:rPr>
              <a:t>github.com/JoshiiWahWah/ntu-matlab-hackathon-2026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