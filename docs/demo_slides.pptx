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Buildings are among the largest contributors to energy use and carbon emissions. To fix them we first need to know which buildings are wasting energy. Not which use the most, but which use more than they should, given what they are and where they are. That's what we built in MATLAB.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building's heating energy follows an energy balance: Q ≈ UA·ΔT summed over the year. So we engineered degree-day and seasonal temperature features. In the raw data, median energy use is roughly 36 to 53 in milder climates and 68 to 82 in colder 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modelling we looked hard at the data. Three findings drove our design. One: State_6 is 67% of the training data and 0% of the test data. So besides the normal score, we report a 'test-like' score on non-State_6 buildings.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the wind and fog columns are 56% missing in train but 90% in test. A model would wrongly learn from that missingness shift, so we dropped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the same buildings appear in several years without an id. We reconstructed one, giving 63,907 buildings, so a building's past energy use becomes a feature. It is computed only from earlier years, and a unit test proves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validate the way the task works: train on years 1 to 5, predict year 6, which the model has never seen. With the same model, a random split would have reported an RMSE of 37.9. The honest temporal split says 42.5.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climbed a ladder of 10 models, each answering one question. Linear regression gets 46.2 and a single tree 40.9, so interactions matter. Adding building history brought buildings with a track record down to an RMSE of 20. Blending raw- and log-scale boosted trees gave our best model: RMSE 37.6, 34% better than the naive baseline, with an R² of 0.57.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MATLAB-specific lesson: MATLAB trees without surrogate splits stop rows that are missing the split variable. Our first run barely learned from buildings without a rating. Encoding missing values explicitly took us from 46.8 to 37.6.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Partial dependence shows clean responses: a higher ENERGY STAR score means lower energy use, and past use predicts future use. An honest caveat: once the model knows the state, the degree-day features add little, because weather is recorded per state and year.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turn predictions into action. A cold-start model predicts what a typical building of the same type, size, age and climate should use. Buildings far above that are retrofit candidates: 1,123 buildings, 5% of the stock, using 1.55 × 10¹⁰ kBtu a year more than expected. That's 5.3% of all energy used. They are ranked by absolute excess energy, so an organisation knows where a retrofit pays off most.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with one command, main, from raw CSV to submission and figures. The code is modular functions with argument validation, unit tests in matlab.unittest, and a validated submission file. Every number in our README was printed by MATLAB.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 monthly meter data, occupancy, and optimising which retrofits to fund first.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1 / 12</a:t>
            </a:r>
          </a:p>
        </p:txBody>
      </p:sp>
      <p:sp>
        <p:nvSpPr>
          <p:cNvPr id="3" name="TextBox 2"/>
          <p:cNvSpPr txBox="1"/>
          <p:nvPr/>
        </p:nvSpPr>
        <p:spPr>
          <a:xfrm>
            <a:off x="731520" y="1371600"/>
            <a:ext cx="10698480" cy="1280160"/>
          </a:xfrm>
          <a:prstGeom prst="rect">
            <a:avLst/>
          </a:prstGeom>
          <a:noFill/>
        </p:spPr>
        <p:txBody>
          <a:bodyPr wrap="square">
            <a:spAutoFit/>
          </a:bodyPr>
          <a:lstStyle/>
          <a:p>
            <a:pPr algn="l">
              <a:spcAft>
                <a:spcPts val="2700"/>
              </a:spcAft>
            </a:pPr>
            <a:r>
              <a:rPr sz="5400" b="1">
                <a:solidFill>
                  <a:srgbClr val="F2F2F2"/>
                </a:solidFill>
                <a:latin typeface="Calibri"/>
              </a:rPr>
              <a:t>Which buildings waste energy?</a:t>
            </a:r>
          </a:p>
        </p:txBody>
      </p:sp>
      <p:sp>
        <p:nvSpPr>
          <p:cNvPr id="4" name="TextBox 3"/>
          <p:cNvSpPr txBox="1"/>
          <p:nvPr/>
        </p:nvSpPr>
        <p:spPr>
          <a:xfrm>
            <a:off x="731520" y="2560320"/>
            <a:ext cx="10698480" cy="1463040"/>
          </a:xfrm>
          <a:prstGeom prst="rect">
            <a:avLst/>
          </a:prstGeom>
          <a:noFill/>
        </p:spPr>
        <p:txBody>
          <a:bodyPr wrap="square">
            <a:spAutoFit/>
          </a:bodyPr>
          <a:lstStyle/>
          <a:p>
            <a:pPr algn="l">
              <a:spcAft>
                <a:spcPts val="1300"/>
              </a:spcAft>
            </a:pPr>
            <a:r>
              <a:rPr sz="2600" b="0">
                <a:solidFill>
                  <a:srgbClr val="A8A8A8"/>
                </a:solidFill>
                <a:latin typeface="Calibri"/>
              </a:rPr>
              <a:t>Not which use the most, but which use more than they should, given what they are and where they are.</a:t>
            </a:r>
          </a:p>
        </p:txBody>
      </p:sp>
      <p:sp>
        <p:nvSpPr>
          <p:cNvPr id="5" name="TextBox 4"/>
          <p:cNvSpPr txBox="1"/>
          <p:nvPr/>
        </p:nvSpPr>
        <p:spPr>
          <a:xfrm>
            <a:off x="731520" y="3931920"/>
            <a:ext cx="10698480" cy="914400"/>
          </a:xfrm>
          <a:prstGeom prst="rect">
            <a:avLst/>
          </a:prstGeom>
          <a:noFill/>
        </p:spPr>
        <p:txBody>
          <a:bodyPr wrap="square">
            <a:spAutoFit/>
          </a:bodyPr>
          <a:lstStyle/>
          <a:p>
            <a:pPr algn="l">
              <a:spcAft>
                <a:spcPts val="1000"/>
              </a:spcAft>
            </a:pPr>
            <a:r>
              <a:rPr sz="2000" b="0">
                <a:solidFill>
                  <a:srgbClr val="F2F2F2"/>
                </a:solidFill>
                <a:latin typeface="Calibri"/>
              </a:rPr>
              <a:t>Buildings are among the largest contributors to energy use and carbon emissions.</a:t>
            </a:r>
          </a:p>
        </p:txBody>
      </p:sp>
      <p:sp>
        <p:nvSpPr>
          <p:cNvPr id="6" name="TextBox 5"/>
          <p:cNvSpPr txBox="1"/>
          <p:nvPr/>
        </p:nvSpPr>
        <p:spPr>
          <a:xfrm>
            <a:off x="731520" y="5212080"/>
            <a:ext cx="10698480" cy="1097280"/>
          </a:xfrm>
          <a:prstGeom prst="rect">
            <a:avLst/>
          </a:prstGeom>
          <a:noFill/>
        </p:spPr>
        <p:txBody>
          <a:bodyPr wrap="square">
            <a:spAutoFit/>
          </a:bodyPr>
          <a:lstStyle/>
          <a:p>
            <a:pPr algn="l">
              <a:spcAft>
                <a:spcPts val="800"/>
              </a:spcAft>
            </a:pPr>
            <a:r>
              <a:rPr sz="1600" b="1">
                <a:solidFill>
                  <a:srgbClr val="E07B39"/>
                </a:solidFill>
                <a:latin typeface="Calibri"/>
              </a:rPr>
              <a:t>NTU Learn to Hack: MATLAB Edition 2026  ·  Predicting Building Energy Consumption  ·  built in MATLAB</a:t>
            </a:r>
          </a:p>
          <a:p>
            <a:pPr algn="l">
              <a:spcAft>
                <a:spcPts val="800"/>
              </a:spcAft>
            </a:pPr>
            <a:r>
              <a:rPr sz="1600" b="0">
                <a:solidFill>
                  <a:srgbClr val="A8A8A8"/>
                </a:solidFill>
                <a:latin typeface="Calibri"/>
              </a:rPr>
              <a:t>github.com/JoshiiWahWah/ntu-matlab-hackathon-2026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2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PHYSICS FRAMING</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Energy balance: Q ≈ UA · ΔT summed over the year</a:t>
            </a:r>
          </a:p>
        </p:txBody>
      </p:sp>
      <p:sp>
        <p:nvSpPr>
          <p:cNvPr id="5" name="TextBox 4"/>
          <p:cNvSpPr txBox="1"/>
          <p:nvPr/>
        </p:nvSpPr>
        <p:spPr>
          <a:xfrm>
            <a:off x="548640" y="1828800"/>
            <a:ext cx="4206240" cy="4389120"/>
          </a:xfrm>
          <a:prstGeom prst="rect">
            <a:avLst/>
          </a:prstGeom>
          <a:noFill/>
        </p:spPr>
        <p:txBody>
          <a:bodyPr wrap="square">
            <a:spAutoFit/>
          </a:bodyPr>
          <a:lstStyle/>
          <a:p>
            <a:pPr algn="l">
              <a:spcAft>
                <a:spcPts val="1000"/>
              </a:spcAft>
            </a:pPr>
            <a:r>
              <a:rPr sz="2000" b="0">
                <a:solidFill>
                  <a:srgbClr val="F2F2F2"/>
                </a:solidFill>
                <a:latin typeface="Calibri"/>
              </a:rPr>
              <a:t>Heating demand scales with heating degree days.</a:t>
            </a:r>
          </a:p>
          <a:p>
            <a:pPr algn="l">
              <a:spcAft>
                <a:spcPts val="900"/>
              </a:spcAft>
            </a:pPr>
            <a:r>
              <a:rPr sz="1800" b="1">
                <a:solidFill>
                  <a:srgbClr val="E07B39"/>
                </a:solidFill>
                <a:latin typeface="Calibri"/>
              </a:rPr>
              <a:t>Features we engineered:</a:t>
            </a:r>
          </a:p>
          <a:p>
            <a:pPr algn="l">
              <a:spcAft>
                <a:spcPts val="900"/>
              </a:spcAft>
            </a:pPr>
            <a:r>
              <a:rPr sz="1800" b="0">
                <a:solidFill>
                  <a:srgbClr val="F2F2F2"/>
                </a:solidFill>
                <a:latin typeface="Calibri"/>
              </a:rPr>
              <a:t>degree days · seasonal mean temperatures · annual temperature range · log floor area · building age</a:t>
            </a:r>
          </a:p>
          <a:p>
            <a:pPr algn="l">
              <a:spcAft>
                <a:spcPts val="950"/>
              </a:spcAft>
            </a:pPr>
            <a:r>
              <a:rPr sz="1900" b="1">
                <a:solidFill>
                  <a:srgbClr val="F2F2F2"/>
                </a:solidFill>
                <a:latin typeface="Calibri"/>
              </a:rPr>
              <a:t>Median EUI: ≈ 36–53 in milder climates vs ≈ 68–82 in colder ones (kBtu/ft²/yr)</a:t>
            </a:r>
          </a:p>
        </p:txBody>
      </p:sp>
      <p:pic>
        <p:nvPicPr>
          <p:cNvPr id="6" name="Picture 5" descr="05_eui_vs_hdd.png"/>
          <p:cNvPicPr>
            <a:picLocks noChangeAspect="1"/>
          </p:cNvPicPr>
          <p:nvPr/>
        </p:nvPicPr>
        <p:blipFill>
          <a:blip r:embed="rId3"/>
          <a:stretch>
            <a:fillRect/>
          </a:stretch>
        </p:blipFill>
        <p:spPr>
          <a:xfrm>
            <a:off x="4937760" y="1688253"/>
            <a:ext cx="6766560" cy="4761653"/>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3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DATA MASTERY · 3 FINDINGS</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Finding 1: the test set comes from different states</a:t>
            </a:r>
          </a:p>
        </p:txBody>
      </p:sp>
      <p:sp>
        <p:nvSpPr>
          <p:cNvPr id="5" name="TextBox 4"/>
          <p:cNvSpPr txBox="1"/>
          <p:nvPr/>
        </p:nvSpPr>
        <p:spPr>
          <a:xfrm>
            <a:off x="548640" y="1828800"/>
            <a:ext cx="4389120" cy="4389120"/>
          </a:xfrm>
          <a:prstGeom prst="rect">
            <a:avLst/>
          </a:prstGeom>
          <a:noFill/>
        </p:spPr>
        <p:txBody>
          <a:bodyPr wrap="square">
            <a:spAutoFit/>
          </a:bodyPr>
          <a:lstStyle/>
          <a:p>
            <a:pPr algn="l">
              <a:spcAft>
                <a:spcPts val="1100"/>
              </a:spcAft>
            </a:pPr>
            <a:r>
              <a:rPr sz="2200" b="1">
                <a:solidFill>
                  <a:srgbClr val="A8A8A8"/>
                </a:solidFill>
                <a:latin typeface="Calibri"/>
              </a:rPr>
              <a:t>State_6</a:t>
            </a:r>
          </a:p>
          <a:p>
            <a:pPr algn="l">
              <a:spcAft>
                <a:spcPts val="1800"/>
              </a:spcAft>
            </a:pPr>
            <a:r>
              <a:rPr sz="3600" b="1">
                <a:solidFill>
                  <a:srgbClr val="4A9BE8"/>
                </a:solidFill>
                <a:latin typeface="Calibri"/>
              </a:rPr>
              <a:t>67.1% of train</a:t>
            </a:r>
          </a:p>
          <a:p>
            <a:pPr algn="l">
              <a:spcAft>
                <a:spcPts val="1800"/>
              </a:spcAft>
            </a:pPr>
            <a:r>
              <a:rPr sz="3600" b="1">
                <a:solidFill>
                  <a:srgbClr val="E07B39"/>
                </a:solidFill>
                <a:latin typeface="Calibri"/>
              </a:rPr>
              <a:t>0% of test</a:t>
            </a:r>
          </a:p>
          <a:p>
            <a:pPr algn="l">
              <a:spcAft>
                <a:spcPts val="950"/>
              </a:spcAft>
            </a:pPr>
            <a:r>
              <a:rPr sz="1900" b="0">
                <a:solidFill>
                  <a:srgbClr val="F2F2F2"/>
                </a:solidFill>
                <a:latin typeface="Calibri"/>
              </a:rPr>
              <a:t>→ we also report a test-like score on non-State_6 buildings</a:t>
            </a:r>
          </a:p>
        </p:txBody>
      </p:sp>
      <p:pic>
        <p:nvPicPr>
          <p:cNvPr id="6" name="Picture 5" descr="02_state_shift.png"/>
          <p:cNvPicPr>
            <a:picLocks noChangeAspect="1"/>
          </p:cNvPicPr>
          <p:nvPr/>
        </p:nvPicPr>
        <p:blipFill>
          <a:blip r:embed="rId3"/>
          <a:stretch>
            <a:fillRect/>
          </a:stretch>
        </p:blipFill>
        <p:spPr>
          <a:xfrm>
            <a:off x="5120640" y="2347667"/>
            <a:ext cx="6675120" cy="353426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4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DATA MASTERY · 3 FINDINGS</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Finding 2: missingness shifts between train and test</a:t>
            </a:r>
          </a:p>
        </p:txBody>
      </p:sp>
      <p:sp>
        <p:nvSpPr>
          <p:cNvPr id="5" name="TextBox 4"/>
          <p:cNvSpPr txBox="1"/>
          <p:nvPr/>
        </p:nvSpPr>
        <p:spPr>
          <a:xfrm>
            <a:off x="731520" y="1920240"/>
            <a:ext cx="10698480" cy="548640"/>
          </a:xfrm>
          <a:prstGeom prst="rect">
            <a:avLst/>
          </a:prstGeom>
          <a:noFill/>
        </p:spPr>
        <p:txBody>
          <a:bodyPr wrap="square">
            <a:spAutoFit/>
          </a:bodyPr>
          <a:lstStyle/>
          <a:p>
            <a:pPr algn="ctr">
              <a:spcAft>
                <a:spcPts val="1200"/>
              </a:spcAft>
            </a:pPr>
            <a:r>
              <a:rPr sz="2400" b="0">
                <a:solidFill>
                  <a:srgbClr val="A8A8A8"/>
                </a:solidFill>
                <a:latin typeface="Calibri"/>
              </a:rPr>
              <a:t>Wind and fog columns, share missing</a:t>
            </a:r>
          </a:p>
        </p:txBody>
      </p:sp>
      <p:sp>
        <p:nvSpPr>
          <p:cNvPr id="6" name="TextBox 5"/>
          <p:cNvSpPr txBox="1"/>
          <p:nvPr/>
        </p:nvSpPr>
        <p:spPr>
          <a:xfrm>
            <a:off x="731520" y="2651760"/>
            <a:ext cx="5120640" cy="1463040"/>
          </a:xfrm>
          <a:prstGeom prst="rect">
            <a:avLst/>
          </a:prstGeom>
          <a:noFill/>
        </p:spPr>
        <p:txBody>
          <a:bodyPr wrap="square">
            <a:spAutoFit/>
          </a:bodyPr>
          <a:lstStyle/>
          <a:p>
            <a:pPr algn="ctr">
              <a:spcAft>
                <a:spcPts val="3600"/>
              </a:spcAft>
            </a:pPr>
            <a:r>
              <a:rPr sz="7200" b="1">
                <a:solidFill>
                  <a:srgbClr val="4A9BE8"/>
                </a:solidFill>
                <a:latin typeface="Calibri"/>
              </a:rPr>
              <a:t>56.0%</a:t>
            </a:r>
          </a:p>
          <a:p>
            <a:pPr algn="ctr">
              <a:spcAft>
                <a:spcPts val="1000"/>
              </a:spcAft>
            </a:pPr>
            <a:r>
              <a:rPr sz="2000" b="0">
                <a:solidFill>
                  <a:srgbClr val="A8A8A8"/>
                </a:solidFill>
                <a:latin typeface="Calibri"/>
              </a:rPr>
              <a:t>train</a:t>
            </a:r>
          </a:p>
        </p:txBody>
      </p:sp>
      <p:sp>
        <p:nvSpPr>
          <p:cNvPr id="7" name="TextBox 6"/>
          <p:cNvSpPr txBox="1"/>
          <p:nvPr/>
        </p:nvSpPr>
        <p:spPr>
          <a:xfrm>
            <a:off x="6309360" y="2651760"/>
            <a:ext cx="5120640" cy="1463040"/>
          </a:xfrm>
          <a:prstGeom prst="rect">
            <a:avLst/>
          </a:prstGeom>
          <a:noFill/>
        </p:spPr>
        <p:txBody>
          <a:bodyPr wrap="square">
            <a:spAutoFit/>
          </a:bodyPr>
          <a:lstStyle/>
          <a:p>
            <a:pPr algn="ctr">
              <a:spcAft>
                <a:spcPts val="3600"/>
              </a:spcAft>
            </a:pPr>
            <a:r>
              <a:rPr sz="7200" b="1">
                <a:solidFill>
                  <a:srgbClr val="E07B39"/>
                </a:solidFill>
                <a:latin typeface="Calibri"/>
              </a:rPr>
              <a:t>89.8%</a:t>
            </a:r>
          </a:p>
          <a:p>
            <a:pPr algn="ctr">
              <a:spcAft>
                <a:spcPts val="1000"/>
              </a:spcAft>
            </a:pPr>
            <a:r>
              <a:rPr sz="2000" b="0">
                <a:solidFill>
                  <a:srgbClr val="A8A8A8"/>
                </a:solidFill>
                <a:latin typeface="Calibri"/>
              </a:rPr>
              <a:t>test</a:t>
            </a:r>
          </a:p>
        </p:txBody>
      </p:sp>
      <p:sp>
        <p:nvSpPr>
          <p:cNvPr id="8" name="TextBox 7"/>
          <p:cNvSpPr txBox="1"/>
          <p:nvPr/>
        </p:nvSpPr>
        <p:spPr>
          <a:xfrm>
            <a:off x="731520" y="5120640"/>
            <a:ext cx="10698480" cy="914400"/>
          </a:xfrm>
          <a:prstGeom prst="rect">
            <a:avLst/>
          </a:prstGeom>
          <a:noFill/>
        </p:spPr>
        <p:txBody>
          <a:bodyPr wrap="square">
            <a:spAutoFit/>
          </a:bodyPr>
          <a:lstStyle/>
          <a:p>
            <a:pPr algn="ctr">
              <a:spcAft>
                <a:spcPts val="1200"/>
              </a:spcAft>
            </a:pPr>
            <a:r>
              <a:rPr sz="2400" b="1">
                <a:solidFill>
                  <a:srgbClr val="F2F2F2"/>
                </a:solidFill>
                <a:latin typeface="Calibri"/>
              </a:rPr>
              <a:t>A model would learn a pattern that doesn't exist at test time → dropped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5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DATA MASTERY · 3 FINDINGS</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Finding 3: the same buildings recur, but without an id</a:t>
            </a:r>
          </a:p>
        </p:txBody>
      </p:sp>
      <p:sp>
        <p:nvSpPr>
          <p:cNvPr id="5" name="TextBox 4"/>
          <p:cNvSpPr txBox="1"/>
          <p:nvPr/>
        </p:nvSpPr>
        <p:spPr>
          <a:xfrm>
            <a:off x="731520" y="1828800"/>
            <a:ext cx="5303520" cy="4389120"/>
          </a:xfrm>
          <a:prstGeom prst="rect">
            <a:avLst/>
          </a:prstGeom>
          <a:noFill/>
        </p:spPr>
        <p:txBody>
          <a:bodyPr wrap="square">
            <a:spAutoFit/>
          </a:bodyPr>
          <a:lstStyle/>
          <a:p>
            <a:pPr algn="l">
              <a:spcAft>
                <a:spcPts val="3600"/>
              </a:spcAft>
            </a:pPr>
            <a:r>
              <a:rPr sz="7200" b="1">
                <a:solidFill>
                  <a:srgbClr val="E07B39"/>
                </a:solidFill>
                <a:latin typeface="Calibri"/>
              </a:rPr>
              <a:t>63,907</a:t>
            </a:r>
          </a:p>
          <a:p>
            <a:pPr algn="l">
              <a:spcAft>
                <a:spcPts val="1000"/>
              </a:spcAft>
            </a:pPr>
            <a:r>
              <a:rPr sz="2000" b="0">
                <a:solidFill>
                  <a:srgbClr val="F2F2F2"/>
                </a:solidFill>
                <a:latin typeface="Calibri"/>
              </a:rPr>
              <a:t>buildings reconstructed from static attributes</a:t>
            </a:r>
          </a:p>
          <a:p>
            <a:pPr algn="l">
              <a:spcAft>
                <a:spcPts val="850"/>
              </a:spcAft>
            </a:pPr>
            <a:r>
              <a:rPr sz="1700" b="0">
                <a:solidFill>
                  <a:srgbClr val="A8A8A8"/>
                </a:solidFill>
                <a:latin typeface="Calibri"/>
              </a:rPr>
              <a:t>state · class · facility type · floor area · year built · elevation</a:t>
            </a:r>
          </a:p>
        </p:txBody>
      </p:sp>
      <p:sp>
        <p:nvSpPr>
          <p:cNvPr id="6" name="TextBox 5"/>
          <p:cNvSpPr txBox="1"/>
          <p:nvPr/>
        </p:nvSpPr>
        <p:spPr>
          <a:xfrm>
            <a:off x="6400800" y="1828800"/>
            <a:ext cx="5303520" cy="4389120"/>
          </a:xfrm>
          <a:prstGeom prst="rect">
            <a:avLst/>
          </a:prstGeom>
          <a:noFill/>
        </p:spPr>
        <p:txBody>
          <a:bodyPr wrap="square">
            <a:spAutoFit/>
          </a:bodyPr>
          <a:lstStyle/>
          <a:p>
            <a:pPr algn="l">
              <a:spcAft>
                <a:spcPts val="1200"/>
              </a:spcAft>
            </a:pPr>
            <a:r>
              <a:rPr sz="2400" b="1">
                <a:solidFill>
                  <a:srgbClr val="F2F2F2"/>
                </a:solidFill>
                <a:latin typeface="Calibri"/>
              </a:rPr>
              <a:t>Past energy use becomes a feature</a:t>
            </a:r>
          </a:p>
          <a:p>
            <a:pPr algn="l">
              <a:spcAft>
                <a:spcPts val="1000"/>
              </a:spcAft>
            </a:pPr>
            <a:r>
              <a:rPr sz="2000" b="0">
                <a:solidFill>
                  <a:srgbClr val="F2F2F2"/>
                </a:solidFill>
                <a:latin typeface="Calibri"/>
              </a:rPr>
              <a:t>Computed only from earlier years: no leakage, proven by a unit test</a:t>
            </a:r>
          </a:p>
          <a:p>
            <a:pPr algn="l">
              <a:spcAft>
                <a:spcPts val="1100"/>
              </a:spcAft>
            </a:pPr>
            <a:r>
              <a:rPr sz="2200" b="1">
                <a:solidFill>
                  <a:srgbClr val="E07B39"/>
                </a:solidFill>
                <a:latin typeface="Calibri"/>
              </a:rPr>
              <a:t>22.1% of test rows have past energy data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6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HONEST VALIDATION</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Validate the way the task works</a:t>
            </a:r>
          </a:p>
        </p:txBody>
      </p:sp>
      <p:sp>
        <p:nvSpPr>
          <p:cNvPr id="5" name="TextBox 4"/>
          <p:cNvSpPr txBox="1"/>
          <p:nvPr/>
        </p:nvSpPr>
        <p:spPr>
          <a:xfrm>
            <a:off x="548640" y="1828800"/>
            <a:ext cx="4389120" cy="4389120"/>
          </a:xfrm>
          <a:prstGeom prst="rect">
            <a:avLst/>
          </a:prstGeom>
          <a:noFill/>
        </p:spPr>
        <p:txBody>
          <a:bodyPr wrap="square">
            <a:spAutoFit/>
          </a:bodyPr>
          <a:lstStyle/>
          <a:p>
            <a:pPr algn="l">
              <a:spcAft>
                <a:spcPts val="1050"/>
              </a:spcAft>
            </a:pPr>
            <a:r>
              <a:rPr sz="2100" b="1">
                <a:solidFill>
                  <a:srgbClr val="F2F2F2"/>
                </a:solidFill>
                <a:latin typeface="Calibri"/>
              </a:rPr>
              <a:t>Train years 1–5 → predict year 6, never seen</a:t>
            </a:r>
          </a:p>
          <a:p>
            <a:pPr algn="l">
              <a:spcAft>
                <a:spcPts val="900"/>
              </a:spcAft>
            </a:pPr>
            <a:r>
              <a:rPr sz="1800" b="0">
                <a:solidFill>
                  <a:srgbClr val="A8A8A8"/>
                </a:solidFill>
                <a:latin typeface="Calibri"/>
              </a:rPr>
              <a:t>Same model, same features:</a:t>
            </a:r>
          </a:p>
          <a:p>
            <a:pPr algn="l">
              <a:spcAft>
                <a:spcPts val="1400"/>
              </a:spcAft>
            </a:pPr>
            <a:r>
              <a:rPr sz="2800" b="1">
                <a:solidFill>
                  <a:srgbClr val="4A9BE8"/>
                </a:solidFill>
                <a:latin typeface="Calibri"/>
              </a:rPr>
              <a:t>Random split   37.9</a:t>
            </a:r>
          </a:p>
          <a:p>
            <a:pPr algn="l">
              <a:spcAft>
                <a:spcPts val="1400"/>
              </a:spcAft>
            </a:pPr>
            <a:r>
              <a:rPr sz="2800" b="1">
                <a:solidFill>
                  <a:srgbClr val="E07B39"/>
                </a:solidFill>
                <a:latin typeface="Calibri"/>
              </a:rPr>
              <a:t>Temporal split  42.5</a:t>
            </a:r>
          </a:p>
          <a:p>
            <a:pPr algn="l">
              <a:spcAft>
                <a:spcPts val="900"/>
              </a:spcAft>
            </a:pPr>
            <a:r>
              <a:rPr sz="1800" b="0">
                <a:solidFill>
                  <a:srgbClr val="F2F2F2"/>
                </a:solidFill>
                <a:latin typeface="Calibri"/>
              </a:rPr>
              <a:t>We report the honest temporal number.</a:t>
            </a:r>
          </a:p>
        </p:txBody>
      </p:sp>
      <p:pic>
        <p:nvPicPr>
          <p:cNvPr id="6" name="Picture 5" descr="09_validation_schemes.png"/>
          <p:cNvPicPr>
            <a:picLocks noChangeAspect="1"/>
          </p:cNvPicPr>
          <p:nvPr/>
        </p:nvPicPr>
        <p:blipFill>
          <a:blip r:embed="rId3"/>
          <a:stretch>
            <a:fillRect/>
          </a:stretch>
        </p:blipFill>
        <p:spPr>
          <a:xfrm>
            <a:off x="5120640" y="1945699"/>
            <a:ext cx="6583680" cy="433820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7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USE OF MACHINE LEARNING</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A ladder of 10 models, each answering one question</a:t>
            </a:r>
          </a:p>
        </p:txBody>
      </p:sp>
      <p:pic>
        <p:nvPicPr>
          <p:cNvPr id="5" name="Picture 4" descr="06_model_ladder.png"/>
          <p:cNvPicPr>
            <a:picLocks noChangeAspect="1"/>
          </p:cNvPicPr>
          <p:nvPr/>
        </p:nvPicPr>
        <p:blipFill>
          <a:blip r:embed="rId3"/>
          <a:stretch>
            <a:fillRect/>
          </a:stretch>
        </p:blipFill>
        <p:spPr>
          <a:xfrm>
            <a:off x="365760" y="1679463"/>
            <a:ext cx="7589520" cy="3864833"/>
          </a:xfrm>
          <a:prstGeom prst="rect">
            <a:avLst/>
          </a:prstGeom>
        </p:spPr>
      </p:pic>
      <p:pic>
        <p:nvPicPr>
          <p:cNvPr id="6" name="Picture 5" descr="08_history_vs_coldstart.png"/>
          <p:cNvPicPr>
            <a:picLocks noChangeAspect="1"/>
          </p:cNvPicPr>
          <p:nvPr/>
        </p:nvPicPr>
        <p:blipFill>
          <a:blip r:embed="rId4"/>
          <a:stretch>
            <a:fillRect/>
          </a:stretch>
        </p:blipFill>
        <p:spPr>
          <a:xfrm>
            <a:off x="8046720" y="1819277"/>
            <a:ext cx="3840480" cy="2579365"/>
          </a:xfrm>
          <a:prstGeom prst="rect">
            <a:avLst/>
          </a:prstGeom>
        </p:spPr>
      </p:pic>
      <p:sp>
        <p:nvSpPr>
          <p:cNvPr id="7" name="TextBox 6"/>
          <p:cNvSpPr txBox="1"/>
          <p:nvPr/>
        </p:nvSpPr>
        <p:spPr>
          <a:xfrm>
            <a:off x="8046720" y="4754880"/>
            <a:ext cx="3931920" cy="1828800"/>
          </a:xfrm>
          <a:prstGeom prst="rect">
            <a:avLst/>
          </a:prstGeom>
          <a:noFill/>
        </p:spPr>
        <p:txBody>
          <a:bodyPr wrap="square">
            <a:spAutoFit/>
          </a:bodyPr>
          <a:lstStyle/>
          <a:p>
            <a:pPr algn="l">
              <a:spcAft>
                <a:spcPts val="800"/>
              </a:spcAft>
            </a:pPr>
            <a:r>
              <a:rPr sz="1600" b="1">
                <a:solidFill>
                  <a:srgbClr val="F2F2F2"/>
                </a:solidFill>
                <a:latin typeface="Calibri"/>
              </a:rPr>
              <a:t>Best: raw + log boosted-tree blend</a:t>
            </a:r>
          </a:p>
          <a:p>
            <a:pPr algn="l">
              <a:spcAft>
                <a:spcPts val="1500"/>
              </a:spcAft>
            </a:pPr>
            <a:r>
              <a:rPr sz="3000" b="1">
                <a:solidFill>
                  <a:srgbClr val="E07B39"/>
                </a:solidFill>
                <a:latin typeface="Calibri"/>
              </a:rPr>
              <a:t>RMSE 37.6</a:t>
            </a:r>
          </a:p>
          <a:p>
            <a:pPr algn="l">
              <a:spcAft>
                <a:spcPts val="800"/>
              </a:spcAft>
            </a:pPr>
            <a:r>
              <a:rPr sz="1600" b="0">
                <a:solidFill>
                  <a:srgbClr val="F2F2F2"/>
                </a:solidFill>
                <a:latin typeface="Calibri"/>
              </a:rPr>
              <a:t>−34% vs naive · R² 0.57</a:t>
            </a:r>
          </a:p>
        </p:txBody>
      </p:sp>
      <p:sp>
        <p:nvSpPr>
          <p:cNvPr id="8" name="TextBox 7"/>
          <p:cNvSpPr txBox="1"/>
          <p:nvPr/>
        </p:nvSpPr>
        <p:spPr>
          <a:xfrm>
            <a:off x="548640" y="5806440"/>
            <a:ext cx="7315200" cy="731520"/>
          </a:xfrm>
          <a:prstGeom prst="rect">
            <a:avLst/>
          </a:prstGeom>
          <a:noFill/>
        </p:spPr>
        <p:txBody>
          <a:bodyPr wrap="square">
            <a:spAutoFit/>
          </a:bodyPr>
          <a:lstStyle/>
          <a:p>
            <a:pPr algn="l">
              <a:spcAft>
                <a:spcPts val="800"/>
              </a:spcAft>
            </a:pPr>
            <a:r>
              <a:rPr sz="1600" b="0">
                <a:solidFill>
                  <a:srgbClr val="A8A8A8"/>
                </a:solidFill>
                <a:latin typeface="Calibri"/>
              </a:rPr>
              <a:t>Linear 46.2 → single tree 40.9 · buildings with history: RMSE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8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WHAT WE LEARNED THE HARD WAY</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A MATLAB-specific lesson: missing values in trees</a:t>
            </a:r>
          </a:p>
        </p:txBody>
      </p:sp>
      <p:sp>
        <p:nvSpPr>
          <p:cNvPr id="5" name="TextBox 4"/>
          <p:cNvSpPr txBox="1"/>
          <p:nvPr/>
        </p:nvSpPr>
        <p:spPr>
          <a:xfrm>
            <a:off x="731520" y="1828800"/>
            <a:ext cx="5669280" cy="4389120"/>
          </a:xfrm>
          <a:prstGeom prst="rect">
            <a:avLst/>
          </a:prstGeom>
          <a:noFill/>
        </p:spPr>
        <p:txBody>
          <a:bodyPr wrap="square">
            <a:spAutoFit/>
          </a:bodyPr>
          <a:lstStyle/>
          <a:p>
            <a:pPr algn="l">
              <a:spcAft>
                <a:spcPts val="1100"/>
              </a:spcAft>
            </a:pPr>
            <a:r>
              <a:rPr sz="2200" b="0">
                <a:solidFill>
                  <a:srgbClr val="F2F2F2"/>
                </a:solidFill>
                <a:latin typeface="Calibri"/>
              </a:rPr>
              <a:t>Without surrogate splits, a row missing the split variable stops at that node.</a:t>
            </a:r>
          </a:p>
          <a:p>
            <a:pPr algn="l">
              <a:spcAft>
                <a:spcPts val="1100"/>
              </a:spcAft>
            </a:pPr>
            <a:r>
              <a:rPr sz="2200" b="0">
                <a:solidFill>
                  <a:srgbClr val="F2F2F2"/>
                </a:solidFill>
                <a:latin typeface="Calibri"/>
              </a:rPr>
              <a:t>Our first run barely learned from buildings without a rating.</a:t>
            </a:r>
          </a:p>
          <a:p>
            <a:pPr algn="l">
              <a:spcAft>
                <a:spcPts val="1100"/>
              </a:spcAft>
            </a:pPr>
            <a:r>
              <a:rPr sz="2200" b="1">
                <a:solidFill>
                  <a:srgbClr val="E07B39"/>
                </a:solidFill>
                <a:latin typeface="Calibri"/>
              </a:rPr>
              <a:t>Fix: encode missing values explicitly (src/treeInputs.m)</a:t>
            </a:r>
          </a:p>
        </p:txBody>
      </p:sp>
      <p:sp>
        <p:nvSpPr>
          <p:cNvPr id="6" name="TextBox 5"/>
          <p:cNvSpPr txBox="1"/>
          <p:nvPr/>
        </p:nvSpPr>
        <p:spPr>
          <a:xfrm>
            <a:off x="6675120" y="2377440"/>
            <a:ext cx="5120640" cy="914400"/>
          </a:xfrm>
          <a:prstGeom prst="rect">
            <a:avLst/>
          </a:prstGeom>
          <a:noFill/>
        </p:spPr>
        <p:txBody>
          <a:bodyPr wrap="square">
            <a:spAutoFit/>
          </a:bodyPr>
          <a:lstStyle/>
          <a:p>
            <a:pPr algn="ctr">
              <a:spcAft>
                <a:spcPts val="1100"/>
              </a:spcAft>
            </a:pPr>
            <a:r>
              <a:rPr sz="2200" b="0">
                <a:solidFill>
                  <a:srgbClr val="A8A8A8"/>
                </a:solidFill>
                <a:latin typeface="Calibri"/>
              </a:rPr>
              <a:t>blend RMSE</a:t>
            </a:r>
          </a:p>
        </p:txBody>
      </p:sp>
      <p:sp>
        <p:nvSpPr>
          <p:cNvPr id="7" name="TextBox 6"/>
          <p:cNvSpPr txBox="1"/>
          <p:nvPr/>
        </p:nvSpPr>
        <p:spPr>
          <a:xfrm>
            <a:off x="6675120" y="2926080"/>
            <a:ext cx="5120640" cy="1463040"/>
          </a:xfrm>
          <a:prstGeom prst="rect">
            <a:avLst/>
          </a:prstGeom>
          <a:noFill/>
        </p:spPr>
        <p:txBody>
          <a:bodyPr wrap="square">
            <a:spAutoFit/>
          </a:bodyPr>
          <a:lstStyle/>
          <a:p>
            <a:pPr algn="ctr">
              <a:spcAft>
                <a:spcPts val="3000"/>
              </a:spcAft>
            </a:pPr>
            <a:r>
              <a:rPr sz="6000" b="1">
                <a:solidFill>
                  <a:srgbClr val="E07B39"/>
                </a:solidFill>
                <a:latin typeface="Calibri"/>
              </a:rPr>
              <a:t>46.8  →  37.6</a:t>
            </a:r>
          </a:p>
        </p:txBody>
      </p:sp>
      <p:sp>
        <p:nvSpPr>
          <p:cNvPr id="8" name="TextBox 7"/>
          <p:cNvSpPr txBox="1"/>
          <p:nvPr/>
        </p:nvSpPr>
        <p:spPr>
          <a:xfrm>
            <a:off x="6675120" y="4389120"/>
            <a:ext cx="5120640" cy="914400"/>
          </a:xfrm>
          <a:prstGeom prst="rect">
            <a:avLst/>
          </a:prstGeom>
          <a:noFill/>
        </p:spPr>
        <p:txBody>
          <a:bodyPr wrap="square">
            <a:spAutoFit/>
          </a:bodyPr>
          <a:lstStyle/>
          <a:p>
            <a:pPr algn="ctr">
              <a:spcAft>
                <a:spcPts val="900"/>
              </a:spcAft>
            </a:pPr>
            <a:r>
              <a:rPr sz="1800" b="0">
                <a:solidFill>
                  <a:srgbClr val="A8A8A8"/>
                </a:solidFill>
                <a:latin typeface="Calibri"/>
              </a:rPr>
              <a:t>first full run → after the fix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9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INTERPRETABILITY</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What the model learned</a:t>
            </a:r>
          </a:p>
        </p:txBody>
      </p:sp>
      <p:pic>
        <p:nvPicPr>
          <p:cNvPr id="5" name="Picture 4" descr="11_partial_dependence.png"/>
          <p:cNvPicPr>
            <a:picLocks noChangeAspect="1"/>
          </p:cNvPicPr>
          <p:nvPr/>
        </p:nvPicPr>
        <p:blipFill>
          <a:blip r:embed="rId3"/>
          <a:stretch>
            <a:fillRect/>
          </a:stretch>
        </p:blipFill>
        <p:spPr>
          <a:xfrm>
            <a:off x="365760" y="1605752"/>
            <a:ext cx="11430000" cy="3829376"/>
          </a:xfrm>
          <a:prstGeom prst="rect">
            <a:avLst/>
          </a:prstGeom>
        </p:spPr>
      </p:pic>
      <p:sp>
        <p:nvSpPr>
          <p:cNvPr id="6" name="TextBox 5"/>
          <p:cNvSpPr txBox="1"/>
          <p:nvPr/>
        </p:nvSpPr>
        <p:spPr>
          <a:xfrm>
            <a:off x="548640" y="5577840"/>
            <a:ext cx="11155680" cy="1097280"/>
          </a:xfrm>
          <a:prstGeom prst="rect">
            <a:avLst/>
          </a:prstGeom>
          <a:noFill/>
        </p:spPr>
        <p:txBody>
          <a:bodyPr wrap="square">
            <a:spAutoFit/>
          </a:bodyPr>
          <a:lstStyle/>
          <a:p>
            <a:pPr algn="l">
              <a:spcAft>
                <a:spcPts val="900"/>
              </a:spcAft>
            </a:pPr>
            <a:r>
              <a:rPr sz="1800" b="1">
                <a:solidFill>
                  <a:srgbClr val="F2F2F2"/>
                </a:solidFill>
                <a:latin typeface="Calibri"/>
              </a:rPr>
              <a:t>Higher ENERGY STAR score → lower energy use · past use predicts future use</a:t>
            </a:r>
          </a:p>
          <a:p>
            <a:pPr algn="l">
              <a:spcAft>
                <a:spcPts val="750"/>
              </a:spcAft>
            </a:pPr>
            <a:r>
              <a:rPr sz="1500" b="0">
                <a:solidFill>
                  <a:srgbClr val="A8A8A8"/>
                </a:solidFill>
                <a:latin typeface="Calibri"/>
              </a:rPr>
              <a:t>Honest caveat: weather is recorded per state and year, so once the state is known the degree-day features add little.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10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IMPACT</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From prediction to action: the retrofit shortlist</a:t>
            </a:r>
          </a:p>
        </p:txBody>
      </p:sp>
      <p:sp>
        <p:nvSpPr>
          <p:cNvPr id="5" name="TextBox 4"/>
          <p:cNvSpPr txBox="1"/>
          <p:nvPr/>
        </p:nvSpPr>
        <p:spPr>
          <a:xfrm>
            <a:off x="548640" y="1737360"/>
            <a:ext cx="4389120" cy="4846320"/>
          </a:xfrm>
          <a:prstGeom prst="rect">
            <a:avLst/>
          </a:prstGeom>
          <a:noFill/>
        </p:spPr>
        <p:txBody>
          <a:bodyPr wrap="square">
            <a:spAutoFit/>
          </a:bodyPr>
          <a:lstStyle/>
          <a:p>
            <a:pPr algn="l">
              <a:spcAft>
                <a:spcPts val="900"/>
              </a:spcAft>
            </a:pPr>
            <a:r>
              <a:rPr sz="1800" b="0">
                <a:solidFill>
                  <a:srgbClr val="F2F2F2"/>
                </a:solidFill>
                <a:latin typeface="Calibri"/>
              </a:rPr>
              <a:t>Cold-start model = what a typical building of the same type, size, age and climate should use</a:t>
            </a:r>
          </a:p>
          <a:p>
            <a:pPr algn="l">
              <a:spcAft>
                <a:spcPts val="1500"/>
              </a:spcAft>
            </a:pPr>
            <a:r>
              <a:rPr sz="3000" b="1">
                <a:solidFill>
                  <a:srgbClr val="E07B39"/>
                </a:solidFill>
                <a:latin typeface="Calibri"/>
              </a:rPr>
              <a:t>1,123 buildings</a:t>
            </a:r>
          </a:p>
          <a:p>
            <a:pPr algn="l">
              <a:spcAft>
                <a:spcPts val="900"/>
              </a:spcAft>
            </a:pPr>
            <a:r>
              <a:rPr sz="1800" b="0">
                <a:solidFill>
                  <a:srgbClr val="F2F2F2"/>
                </a:solidFill>
                <a:latin typeface="Calibri"/>
              </a:rPr>
              <a:t>5% of the stock</a:t>
            </a:r>
          </a:p>
          <a:p>
            <a:pPr algn="l">
              <a:spcAft>
                <a:spcPts val="1000"/>
              </a:spcAft>
            </a:pPr>
            <a:r>
              <a:rPr sz="2000" b="1">
                <a:solidFill>
                  <a:srgbClr val="F2F2F2"/>
                </a:solidFill>
                <a:latin typeface="Calibri"/>
              </a:rPr>
              <a:t>1.55 × 10¹⁰ kBtu/yr above expected</a:t>
            </a:r>
          </a:p>
          <a:p>
            <a:pPr algn="l">
              <a:spcAft>
                <a:spcPts val="900"/>
              </a:spcAft>
            </a:pPr>
            <a:r>
              <a:rPr sz="1800" b="0">
                <a:solidFill>
                  <a:srgbClr val="A8A8A8"/>
                </a:solidFill>
                <a:latin typeface="Calibri"/>
              </a:rPr>
              <a:t>= 5.3% of all energy used</a:t>
            </a:r>
          </a:p>
          <a:p>
            <a:pPr algn="l">
              <a:spcAft>
                <a:spcPts val="850"/>
              </a:spcAft>
            </a:pPr>
            <a:r>
              <a:rPr sz="1700" b="0">
                <a:solidFill>
                  <a:srgbClr val="F2F2F2"/>
                </a:solidFill>
                <a:latin typeface="Calibri"/>
              </a:rPr>
              <a:t>Ranked by absolute excess energy</a:t>
            </a:r>
          </a:p>
        </p:txBody>
      </p:sp>
      <p:pic>
        <p:nvPicPr>
          <p:cNvPr id="6" name="Picture 5" descr="12_retrofit_shortlist.png"/>
          <p:cNvPicPr>
            <a:picLocks noChangeAspect="1"/>
          </p:cNvPicPr>
          <p:nvPr/>
        </p:nvPicPr>
        <p:blipFill>
          <a:blip r:embed="rId3"/>
          <a:stretch>
            <a:fillRect/>
          </a:stretch>
        </p:blipFill>
        <p:spPr>
          <a:xfrm>
            <a:off x="5029200" y="2077449"/>
            <a:ext cx="6858000" cy="398326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11 / 12</a:t>
            </a:r>
          </a:p>
        </p:txBody>
      </p:sp>
      <p:sp>
        <p:nvSpPr>
          <p:cNvPr id="3" name="TextBox 2"/>
          <p:cNvSpPr txBox="1"/>
          <p:nvPr/>
        </p:nvSpPr>
        <p:spPr>
          <a:xfrm>
            <a:off x="548640" y="320040"/>
            <a:ext cx="10972800" cy="365760"/>
          </a:xfrm>
          <a:prstGeom prst="rect">
            <a:avLst/>
          </a:prstGeom>
          <a:noFill/>
        </p:spPr>
        <p:txBody>
          <a:bodyPr wrap="square">
            <a:spAutoFit/>
          </a:bodyPr>
          <a:lstStyle/>
          <a:p>
            <a:pPr algn="l">
              <a:spcAft>
                <a:spcPts val="650"/>
              </a:spcAft>
            </a:pPr>
            <a:r>
              <a:rPr sz="1300" b="1">
                <a:solidFill>
                  <a:srgbClr val="E07B39"/>
                </a:solidFill>
                <a:latin typeface="Calibri"/>
              </a:rPr>
              <a:t>ENGINEERING QUALITY</a:t>
            </a:r>
          </a:p>
        </p:txBody>
      </p:sp>
      <p:sp>
        <p:nvSpPr>
          <p:cNvPr id="4" name="TextBox 3"/>
          <p:cNvSpPr txBox="1"/>
          <p:nvPr/>
        </p:nvSpPr>
        <p:spPr>
          <a:xfrm>
            <a:off x="548640" y="640080"/>
            <a:ext cx="11155680" cy="822960"/>
          </a:xfrm>
          <a:prstGeom prst="rect">
            <a:avLst/>
          </a:prstGeom>
          <a:noFill/>
        </p:spPr>
        <p:txBody>
          <a:bodyPr wrap="square">
            <a:spAutoFit/>
          </a:bodyPr>
          <a:lstStyle/>
          <a:p>
            <a:pPr algn="l">
              <a:spcAft>
                <a:spcPts val="1600"/>
              </a:spcAft>
            </a:pPr>
            <a:r>
              <a:rPr sz="3200" b="1">
                <a:solidFill>
                  <a:srgbClr val="F2F2F2"/>
                </a:solidFill>
                <a:latin typeface="Calibri"/>
              </a:rPr>
              <a:t>One command, reproducible, tested</a:t>
            </a:r>
          </a:p>
        </p:txBody>
      </p:sp>
      <p:sp>
        <p:nvSpPr>
          <p:cNvPr id="5" name="TextBox 4"/>
          <p:cNvSpPr txBox="1"/>
          <p:nvPr/>
        </p:nvSpPr>
        <p:spPr>
          <a:xfrm>
            <a:off x="731520" y="1737360"/>
            <a:ext cx="10515600" cy="4572000"/>
          </a:xfrm>
          <a:prstGeom prst="rect">
            <a:avLst/>
          </a:prstGeom>
          <a:noFill/>
        </p:spPr>
        <p:txBody>
          <a:bodyPr wrap="square">
            <a:spAutoFit/>
          </a:bodyPr>
          <a:lstStyle/>
          <a:p>
            <a:pPr algn="l">
              <a:spcAft>
                <a:spcPts val="2000"/>
              </a:spcAft>
            </a:pPr>
            <a:r>
              <a:rPr sz="4000" b="1">
                <a:solidFill>
                  <a:srgbClr val="E07B39"/>
                </a:solidFill>
                <a:latin typeface="Calibri"/>
              </a:rPr>
              <a:t>&gt;&gt; main</a:t>
            </a:r>
          </a:p>
          <a:p>
            <a:pPr algn="l">
              <a:spcAft>
                <a:spcPts val="1200"/>
              </a:spcAft>
            </a:pPr>
            <a:r>
              <a:rPr sz="2400" b="0">
                <a:solidFill>
                  <a:srgbClr val="F2F2F2"/>
                </a:solidFill>
                <a:latin typeface="Calibri"/>
              </a:rPr>
              <a:t>Raw CSV → submission and figures, in one command</a:t>
            </a:r>
          </a:p>
          <a:p>
            <a:pPr algn="l">
              <a:spcAft>
                <a:spcPts val="1200"/>
              </a:spcAft>
            </a:pPr>
            <a:r>
              <a:rPr sz="2400" b="0">
                <a:solidFill>
                  <a:srgbClr val="F2F2F2"/>
                </a:solidFill>
                <a:latin typeface="Calibri"/>
              </a:rPr>
              <a:t>Modular functions with argument validation</a:t>
            </a:r>
          </a:p>
          <a:p>
            <a:pPr algn="l">
              <a:spcAft>
                <a:spcPts val="1200"/>
              </a:spcAft>
            </a:pPr>
            <a:r>
              <a:rPr sz="2400" b="0">
                <a:solidFill>
                  <a:srgbClr val="F2F2F2"/>
                </a:solidFill>
                <a:latin typeface="Calibri"/>
              </a:rPr>
              <a:t>Unit tests in matlab.unittest · validated submission file</a:t>
            </a:r>
          </a:p>
          <a:p>
            <a:pPr algn="l">
              <a:spcAft>
                <a:spcPts val="1200"/>
              </a:spcAft>
            </a:pPr>
            <a:r>
              <a:rPr sz="2400" b="0">
                <a:solidFill>
                  <a:srgbClr val="F2F2F2"/>
                </a:solidFill>
                <a:latin typeface="Calibri"/>
              </a:rPr>
              <a:t>Every number in our README was printed by MATLAB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21212"/>
        </a:solidFill>
        <a:effectLst/>
      </p:bgPr>
    </p:bg>
    <p:spTree>
      <p:nvGrpSpPr>
        <p:cNvPr id="1" name=""/>
        <p:cNvGrpSpPr/>
        <p:nvPr/>
      </p:nvGrpSpPr>
      <p:grpSpPr/>
      <p:sp>
        <p:nvSpPr>
          <p:cNvPr id="2" name="TextBox 1"/>
          <p:cNvSpPr txBox="1"/>
          <p:nvPr/>
        </p:nvSpPr>
        <p:spPr>
          <a:xfrm>
            <a:off x="10789920" y="6400800"/>
            <a:ext cx="1188720" cy="365760"/>
          </a:xfrm>
          <a:prstGeom prst="rect">
            <a:avLst/>
          </a:prstGeom>
          <a:noFill/>
        </p:spPr>
        <p:txBody>
          <a:bodyPr wrap="square">
            <a:spAutoFit/>
          </a:bodyPr>
          <a:lstStyle/>
          <a:p>
            <a:pPr algn="r">
              <a:spcAft>
                <a:spcPts val="550"/>
              </a:spcAft>
            </a:pPr>
            <a:r>
              <a:rPr sz="1100" b="0">
                <a:solidFill>
                  <a:srgbClr val="A8A8A8"/>
                </a:solidFill>
                <a:latin typeface="Calibri"/>
              </a:rPr>
              <a:t>12 / 12</a:t>
            </a:r>
          </a:p>
        </p:txBody>
      </p:sp>
      <p:sp>
        <p:nvSpPr>
          <p:cNvPr id="3" name="TextBox 2"/>
          <p:cNvSpPr txBox="1"/>
          <p:nvPr/>
        </p:nvSpPr>
        <p:spPr>
          <a:xfrm>
            <a:off x="731520" y="1280160"/>
            <a:ext cx="10698480" cy="548640"/>
          </a:xfrm>
          <a:prstGeom prst="rect">
            <a:avLst/>
          </a:prstGeom>
          <a:noFill/>
        </p:spPr>
        <p:txBody>
          <a:bodyPr wrap="square">
            <a:spAutoFit/>
          </a:bodyPr>
          <a:lstStyle/>
          <a:p>
            <a:pPr algn="l">
              <a:spcAft>
                <a:spcPts val="800"/>
              </a:spcAft>
            </a:pPr>
            <a:r>
              <a:rPr sz="1600" b="1">
                <a:solidFill>
                  <a:srgbClr val="E07B39"/>
                </a:solidFill>
                <a:latin typeface="Calibri"/>
              </a:rPr>
              <a:t>NEXT STEPS</a:t>
            </a:r>
          </a:p>
        </p:txBody>
      </p:sp>
      <p:sp>
        <p:nvSpPr>
          <p:cNvPr id="4" name="TextBox 3"/>
          <p:cNvSpPr txBox="1"/>
          <p:nvPr/>
        </p:nvSpPr>
        <p:spPr>
          <a:xfrm>
            <a:off x="731520" y="1828800"/>
            <a:ext cx="10698480" cy="2286000"/>
          </a:xfrm>
          <a:prstGeom prst="rect">
            <a:avLst/>
          </a:prstGeom>
          <a:noFill/>
        </p:spPr>
        <p:txBody>
          <a:bodyPr wrap="square">
            <a:spAutoFit/>
          </a:bodyPr>
          <a:lstStyle/>
          <a:p>
            <a:pPr algn="l">
              <a:spcAft>
                <a:spcPts val="1400"/>
              </a:spcAft>
            </a:pPr>
            <a:r>
              <a:rPr sz="2800" b="0">
                <a:solidFill>
                  <a:srgbClr val="F2F2F2"/>
                </a:solidFill>
                <a:latin typeface="Calibri"/>
              </a:rPr>
              <a:t>Monthly meter data</a:t>
            </a:r>
          </a:p>
          <a:p>
            <a:pPr algn="l">
              <a:spcAft>
                <a:spcPts val="1400"/>
              </a:spcAft>
            </a:pPr>
            <a:r>
              <a:rPr sz="2800" b="0">
                <a:solidFill>
                  <a:srgbClr val="F2F2F2"/>
                </a:solidFill>
                <a:latin typeface="Calibri"/>
              </a:rPr>
              <a:t>Occupancy</a:t>
            </a:r>
          </a:p>
          <a:p>
            <a:pPr algn="l">
              <a:spcAft>
                <a:spcPts val="1400"/>
              </a:spcAft>
            </a:pPr>
            <a:r>
              <a:rPr sz="2800" b="0">
                <a:solidFill>
                  <a:srgbClr val="F2F2F2"/>
                </a:solidFill>
                <a:latin typeface="Calibri"/>
              </a:rPr>
              <a:t>Optimising which retrofits to fund first</a:t>
            </a:r>
          </a:p>
        </p:txBody>
      </p:sp>
      <p:sp>
        <p:nvSpPr>
          <p:cNvPr id="5" name="TextBox 4"/>
          <p:cNvSpPr txBox="1"/>
          <p:nvPr/>
        </p:nvSpPr>
        <p:spPr>
          <a:xfrm>
            <a:off x="731520" y="4389120"/>
            <a:ext cx="10698480" cy="1097280"/>
          </a:xfrm>
          <a:prstGeom prst="rect">
            <a:avLst/>
          </a:prstGeom>
          <a:noFill/>
        </p:spPr>
        <p:txBody>
          <a:bodyPr wrap="square">
            <a:spAutoFit/>
          </a:bodyPr>
          <a:lstStyle/>
          <a:p>
            <a:pPr algn="l">
              <a:spcAft>
                <a:spcPts val="2700"/>
              </a:spcAft>
            </a:pPr>
            <a:r>
              <a:rPr sz="5400" b="1">
                <a:solidFill>
                  <a:srgbClr val="F2F2F2"/>
                </a:solidFill>
                <a:latin typeface="Calibri"/>
              </a:rPr>
              <a:t>Thank you</a:t>
            </a:r>
          </a:p>
        </p:txBody>
      </p:sp>
      <p:sp>
        <p:nvSpPr>
          <p:cNvPr id="6" name="TextBox 5"/>
          <p:cNvSpPr txBox="1"/>
          <p:nvPr/>
        </p:nvSpPr>
        <p:spPr>
          <a:xfrm>
            <a:off x="731520" y="5486400"/>
            <a:ext cx="10698480" cy="548640"/>
          </a:xfrm>
          <a:prstGeom prst="rect">
            <a:avLst/>
          </a:prstGeom>
          <a:noFill/>
        </p:spPr>
        <p:txBody>
          <a:bodyPr wrap="square">
            <a:spAutoFit/>
          </a:bodyPr>
          <a:lstStyle/>
          <a:p>
            <a:pPr algn="l">
              <a:spcAft>
                <a:spcPts val="900"/>
              </a:spcAft>
            </a:pPr>
            <a:r>
              <a:rPr sz="1800" b="0">
                <a:solidFill>
                  <a:srgbClr val="A8A8A8"/>
                </a:solidFill>
                <a:latin typeface="Calibri"/>
              </a:rPr>
              <a:t>github.com/JoshiiWahWah/ntu-matlab-hackathon-2026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